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9" r:id="rId20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E1B4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9144000" cy="54864"/>
          </a:xfrm>
          <a:prstGeom prst="rect">
            <a:avLst/>
          </a:prstGeom>
          <a:solidFill>
            <a:srgbClr val="4F46E5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Calibri"/>
              </a:rPr>
              <a:t>KIT AI Resume Screener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202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7D2FE"/>
                </a:solidFill>
                <a:latin typeface="Calibri"/>
              </a:rPr>
              <a:t>AI-Powered Resume Screening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B300"/>
                </a:solidFill>
                <a:latin typeface="Calibri"/>
              </a:rPr>
              <a:t>with AI Resume 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63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A5B4FC"/>
                </a:solidFill>
                <a:latin typeface="Calibri"/>
              </a:rPr>
              <a:t>Presented by: SRI HARI</a:t>
            </a:r>
          </a:p>
        </p:txBody>
      </p:sp>
      <p:sp>
        <p:nvSpPr>
          <p:cNvPr id="8" name="Rectangle 7"/>
          <p:cNvSpPr/>
          <p:nvPr/>
        </p:nvSpPr>
        <p:spPr>
          <a:xfrm>
            <a:off x="525779" y="3657600"/>
            <a:ext cx="1234440" cy="347472"/>
          </a:xfrm>
          <a:prstGeom prst="rect">
            <a:avLst/>
          </a:prstGeom>
          <a:solidFill>
            <a:srgbClr val="3B82F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Java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1897379" y="3657600"/>
            <a:ext cx="1234440" cy="347472"/>
          </a:xfrm>
          <a:prstGeom prst="rect">
            <a:avLst/>
          </a:prstGeom>
          <a:solidFill>
            <a:srgbClr val="22C55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Spring Boot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68979" y="3657600"/>
            <a:ext cx="1234440" cy="347472"/>
          </a:xfrm>
          <a:prstGeom prst="rect">
            <a:avLst/>
          </a:prstGeom>
          <a:solidFill>
            <a:srgbClr val="4F46E5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Gemini 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40579" y="3657600"/>
            <a:ext cx="1234440" cy="347472"/>
          </a:xfrm>
          <a:prstGeom prst="rect">
            <a:avLst/>
          </a:prstGeom>
          <a:solidFill>
            <a:srgbClr val="F59E0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Vanilla JS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12179" y="3657600"/>
            <a:ext cx="1234440" cy="347472"/>
          </a:xfrm>
          <a:prstGeom prst="rect">
            <a:avLst/>
          </a:prstGeom>
          <a:solidFill>
            <a:srgbClr val="0097A7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MySQL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83779" y="3657600"/>
            <a:ext cx="1234440" cy="347472"/>
          </a:xfrm>
          <a:prstGeom prst="rect">
            <a:avLst/>
          </a:prstGeom>
          <a:solidFill>
            <a:srgbClr val="EF444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Apache Tika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37960"/>
            <a:ext cx="9144000" cy="320040"/>
          </a:xfrm>
          <a:prstGeom prst="rect">
            <a:avLst/>
          </a:prstGeom>
          <a:solidFill>
            <a:srgbClr val="0F0C29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" y="6556248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7D2FE"/>
                </a:solidFill>
                <a:latin typeface="Calibri"/>
              </a:rPr>
              <a:t>KIT AI Resume Screener  |  AI-Powered Recruitment Platform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65562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1 /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E1B4B"/>
                </a:solidFill>
                <a:latin typeface="Calibri"/>
              </a:rPr>
              <a:t>Problem Statement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640080"/>
            <a:ext cx="8229600" cy="45720"/>
          </a:xfrm>
          <a:prstGeom prst="rect">
            <a:avLst/>
          </a:prstGeom>
          <a:solidFill>
            <a:srgbClr val="4F46E5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777240"/>
            <a:ext cx="2377440" cy="1005840"/>
          </a:xfrm>
          <a:prstGeom prst="rect">
            <a:avLst/>
          </a:prstGeom>
          <a:solidFill>
            <a:srgbClr val="EF4444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82296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23 seconds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28016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per resume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777240"/>
            <a:ext cx="2377440" cy="1005840"/>
          </a:xfrm>
          <a:prstGeom prst="rect">
            <a:avLst/>
          </a:prstGeom>
          <a:solidFill>
            <a:srgbClr val="F59E0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82296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75%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128016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qualified candidates rejected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89320" y="777240"/>
            <a:ext cx="2377440" cy="1005840"/>
          </a:xfrm>
          <a:prstGeom prst="rect">
            <a:avLst/>
          </a:prstGeom>
          <a:solidFill>
            <a:srgbClr val="4F46E5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89320" y="822960"/>
            <a:ext cx="2377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250+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128016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applications per job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011680"/>
            <a:ext cx="8321040" cy="502920"/>
          </a:xfrm>
          <a:prstGeom prst="rect">
            <a:avLst/>
          </a:prstGeom>
          <a:solidFill>
            <a:srgbClr val="F8F8F8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0" i="0">
                <a:solidFill>
                  <a:srgbClr val="1E1B4B"/>
                </a:solidFill>
                <a:latin typeface="Calibri"/>
              </a:rPr>
              <a:t>  ●  Manual screening is time-consuming and biased.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606040"/>
            <a:ext cx="8321040" cy="502920"/>
          </a:xfrm>
          <a:prstGeom prst="rect">
            <a:avLst/>
          </a:prstGeom>
          <a:solidFill>
            <a:srgbClr val="F8F8F8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0" i="0">
                <a:solidFill>
                  <a:srgbClr val="1E1B4B"/>
                </a:solidFill>
                <a:latin typeface="Calibri"/>
              </a:rPr>
              <a:t>  ●  Keyword mismatch causes good candidates to be rejected.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3200400"/>
            <a:ext cx="8321040" cy="502920"/>
          </a:xfrm>
          <a:prstGeom prst="rect">
            <a:avLst/>
          </a:prstGeom>
          <a:solidFill>
            <a:srgbClr val="F8F8F8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0" i="0">
                <a:solidFill>
                  <a:srgbClr val="1E1B4B"/>
                </a:solidFill>
                <a:latin typeface="Calibri"/>
              </a:rPr>
              <a:t>  ●  No real-time AI coaching or feedback for candidates.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794760"/>
            <a:ext cx="8321040" cy="502920"/>
          </a:xfrm>
          <a:prstGeom prst="rect">
            <a:avLst/>
          </a:prstGeom>
          <a:solidFill>
            <a:srgbClr val="F8F8F8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0" i="0">
                <a:solidFill>
                  <a:srgbClr val="1E1B4B"/>
                </a:solidFill>
                <a:latin typeface="Calibri"/>
              </a:rPr>
              <a:t>  ●  Recruiters lack data-driven insights.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9144000" cy="320040"/>
          </a:xfrm>
          <a:prstGeom prst="rect">
            <a:avLst/>
          </a:prstGeom>
          <a:solidFill>
            <a:srgbClr val="1E1B4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7160" y="6556248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7D2FE"/>
                </a:solidFill>
                <a:latin typeface="Calibri"/>
              </a:rPr>
              <a:t>KIT AI Resume Screener  |  AI-Powered Recruitment Platform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65562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E1B4B"/>
                </a:solidFill>
                <a:latin typeface="Calibri"/>
              </a:rPr>
              <a:t>Solution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640080"/>
            <a:ext cx="8229600" cy="45720"/>
          </a:xfrm>
          <a:prstGeom prst="rect">
            <a:avLst/>
          </a:prstGeom>
          <a:solidFill>
            <a:srgbClr val="4F46E5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051560"/>
            <a:ext cx="2560320" cy="1325880"/>
          </a:xfrm>
          <a:prstGeom prst="rect">
            <a:avLst/>
          </a:prstGeom>
          <a:solidFill>
            <a:srgbClr val="4F46E5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161288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  <a:latin typeface="Calibri"/>
              </a:rPr>
              <a:t>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618488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AI Screening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6120" y="1051560"/>
            <a:ext cx="2560320" cy="1325880"/>
          </a:xfrm>
          <a:prstGeom prst="rect">
            <a:avLst/>
          </a:prstGeom>
          <a:solidFill>
            <a:srgbClr val="7C3AED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46120" y="1161288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  <a:latin typeface="Calibri"/>
              </a:rPr>
              <a:t>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1618488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Career DNA Profiling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0760" y="1051560"/>
            <a:ext cx="2560320" cy="1325880"/>
          </a:xfrm>
          <a:prstGeom prst="rect">
            <a:avLst/>
          </a:prstGeom>
          <a:solidFill>
            <a:srgbClr val="066CC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60" y="1161288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  <a:latin typeface="Calibri"/>
              </a:rPr>
              <a:t>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1618488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Batch Processing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606039"/>
            <a:ext cx="2560320" cy="1325880"/>
          </a:xfrm>
          <a:prstGeom prst="rect">
            <a:avLst/>
          </a:prstGeom>
          <a:solidFill>
            <a:srgbClr val="E65100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715768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  <a:latin typeface="Calibri"/>
              </a:rPr>
              <a:t>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3172968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AI Resume Coach ★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46120" y="2606039"/>
            <a:ext cx="2560320" cy="1325880"/>
          </a:xfrm>
          <a:prstGeom prst="rect">
            <a:avLst/>
          </a:prstGeom>
          <a:solidFill>
            <a:srgbClr val="06955C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46120" y="2715768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  <a:latin typeface="Calibri"/>
              </a:rPr>
              <a:t>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46120" y="3172968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Analytics Dashboard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80760" y="2606039"/>
            <a:ext cx="2560320" cy="1325880"/>
          </a:xfrm>
          <a:prstGeom prst="rect">
            <a:avLst/>
          </a:prstGeom>
          <a:solidFill>
            <a:srgbClr val="0F766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80760" y="2715768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FFFFF"/>
                </a:solidFill>
                <a:latin typeface="Calibri"/>
              </a:rPr>
              <a:t>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60" y="3172968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Candidate Comparison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37960"/>
            <a:ext cx="9144000" cy="320040"/>
          </a:xfrm>
          <a:prstGeom prst="rect">
            <a:avLst/>
          </a:prstGeom>
          <a:solidFill>
            <a:srgbClr val="1E1B4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" y="6556248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7D2FE"/>
                </a:solidFill>
                <a:latin typeface="Calibri"/>
              </a:rPr>
              <a:t>KIT AI Resume Screener  |  AI-Powered Recruitment Platform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5562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E1B4B"/>
                </a:solidFill>
                <a:latin typeface="Calibri"/>
              </a:rPr>
              <a:t>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640080"/>
            <a:ext cx="8229600" cy="45720"/>
          </a:xfrm>
          <a:prstGeom prst="rect">
            <a:avLst/>
          </a:prstGeom>
          <a:solidFill>
            <a:srgbClr val="4F46E5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645920" cy="914400"/>
          </a:xfrm>
          <a:prstGeom prst="rect">
            <a:avLst/>
          </a:prstGeom>
          <a:solidFill>
            <a:srgbClr val="066CC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Browser SPA
(Vanilla JS)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76272" y="1536192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4F46E5"/>
                </a:solidFill>
                <a:latin typeface="Calibri"/>
              </a:rPr>
              <a:t>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0" y="1280160"/>
            <a:ext cx="1645920" cy="914400"/>
          </a:xfrm>
          <a:prstGeom prst="rect">
            <a:avLst/>
          </a:prstGeom>
          <a:solidFill>
            <a:srgbClr val="4F46E5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Spring Boot
REST 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79392" y="1536192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4F46E5"/>
                </a:solidFill>
                <a:latin typeface="Calibri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4663440" y="1280160"/>
            <a:ext cx="1645920" cy="914400"/>
          </a:xfrm>
          <a:prstGeom prst="rect">
            <a:avLst/>
          </a:prstGeom>
          <a:solidFill>
            <a:srgbClr val="7C3AED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Gemini AI /
Offline NLP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82512" y="1536192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4F46E5"/>
                </a:solidFill>
                <a:latin typeface="Calibri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59" y="1280160"/>
            <a:ext cx="1645920" cy="914400"/>
          </a:xfrm>
          <a:prstGeom prst="rect">
            <a:avLst/>
          </a:prstGeom>
          <a:solidFill>
            <a:srgbClr val="06955C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MySQL
Database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606040"/>
            <a:ext cx="8321040" cy="36576"/>
          </a:xfrm>
          <a:prstGeom prst="rect">
            <a:avLst/>
          </a:prstGeom>
          <a:solidFill>
            <a:srgbClr val="E0E0E0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743200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1B4B"/>
                </a:solidFill>
                <a:latin typeface="Calibri"/>
              </a:rPr>
              <a:t>AI Resume Coach Integration: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3246120"/>
            <a:ext cx="1828800" cy="822960"/>
          </a:xfrm>
          <a:prstGeom prst="rect">
            <a:avLst/>
          </a:prstGeom>
          <a:solidFill>
            <a:srgbClr val="E65100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AI Resume Coach
Frontend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338328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E65100"/>
                </a:solidFill>
                <a:latin typeface="Calibri"/>
              </a:rPr>
              <a:t>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74720" y="3246120"/>
            <a:ext cx="1828800" cy="822960"/>
          </a:xfrm>
          <a:prstGeom prst="rect">
            <a:avLst/>
          </a:prstGeom>
          <a:solidFill>
            <a:srgbClr val="4F46E5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Spring Boot
Coach API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60" y="338328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E65100"/>
                </a:solidFill>
                <a:latin typeface="Calibri"/>
              </a:rPr>
              <a:t>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3246120"/>
            <a:ext cx="1828800" cy="822960"/>
          </a:xfrm>
          <a:prstGeom prst="rect">
            <a:avLst/>
          </a:prstGeom>
          <a:solidFill>
            <a:srgbClr val="7C3AED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Gemini API
(Multi-turn)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343400"/>
            <a:ext cx="8321040" cy="411480"/>
          </a:xfrm>
          <a:prstGeom prst="rect">
            <a:avLst/>
          </a:prstGeom>
          <a:solidFill>
            <a:srgbClr val="FFF3E0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E65100"/>
                </a:solidFill>
                <a:latin typeface="Calibri"/>
              </a:rPr>
              <a:t>POST /api/coach/chat  •  Session-scoped context  •  Gemini 2.0 Flash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983480"/>
            <a:ext cx="1965960" cy="502920"/>
          </a:xfrm>
          <a:prstGeom prst="rect">
            <a:avLst/>
          </a:prstGeom>
          <a:solidFill>
            <a:srgbClr val="F8F8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 i="0">
                <a:solidFill>
                  <a:srgbClr val="1E1B4B"/>
                </a:solidFill>
                <a:latin typeface="Calibri"/>
              </a:rPr>
              <a:t>Stateless REST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51760" y="4983480"/>
            <a:ext cx="1965960" cy="502920"/>
          </a:xfrm>
          <a:prstGeom prst="rect">
            <a:avLst/>
          </a:prstGeom>
          <a:solidFill>
            <a:srgbClr val="F8F8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 i="0">
                <a:solidFill>
                  <a:srgbClr val="1E1B4B"/>
                </a:solidFill>
                <a:latin typeface="Calibri"/>
              </a:rPr>
              <a:t>JPA + Hibernate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46320" y="4983480"/>
            <a:ext cx="1965960" cy="502920"/>
          </a:xfrm>
          <a:prstGeom prst="rect">
            <a:avLst/>
          </a:prstGeom>
          <a:solidFill>
            <a:srgbClr val="F8F8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 i="0">
                <a:solidFill>
                  <a:srgbClr val="1E1B4B"/>
                </a:solidFill>
                <a:latin typeface="Calibri"/>
              </a:rPr>
              <a:t>PDF/DOC parsing via Tika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79" y="4983480"/>
            <a:ext cx="1965960" cy="502920"/>
          </a:xfrm>
          <a:prstGeom prst="rect">
            <a:avLst/>
          </a:prstGeom>
          <a:solidFill>
            <a:srgbClr val="F8F8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 i="0">
                <a:solidFill>
                  <a:srgbClr val="1E1B4B"/>
                </a:solidFill>
                <a:latin typeface="Calibri"/>
              </a:rPr>
              <a:t>Secure API key via env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37960"/>
            <a:ext cx="9144000" cy="320040"/>
          </a:xfrm>
          <a:prstGeom prst="rect">
            <a:avLst/>
          </a:prstGeom>
          <a:solidFill>
            <a:srgbClr val="1E1B4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" y="6556248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7D2FE"/>
                </a:solidFill>
                <a:latin typeface="Calibri"/>
              </a:rPr>
              <a:t>KIT AI Resume Screener  |  AI-Powered Recruitment Platform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5562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E1B4B"/>
                </a:solidFill>
                <a:latin typeface="Calibri"/>
              </a:rPr>
              <a:t>Key Features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640080"/>
            <a:ext cx="8229600" cy="45720"/>
          </a:xfrm>
          <a:prstGeom prst="rect">
            <a:avLst/>
          </a:prstGeom>
          <a:solidFill>
            <a:srgbClr val="4F46E5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005840"/>
            <a:ext cx="2560320" cy="1463040"/>
          </a:xfrm>
          <a:prstGeom prst="rect">
            <a:avLst/>
          </a:prstGeom>
          <a:solidFill>
            <a:srgbClr val="066CC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97280"/>
            <a:ext cx="237743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Single Resume
Screening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83080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EE"/>
                </a:solidFill>
                <a:latin typeface="Calibri"/>
              </a:rPr>
              <a:t>Upload &amp; instantly score one resume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27832" y="1005840"/>
            <a:ext cx="2560320" cy="1463040"/>
          </a:xfrm>
          <a:prstGeom prst="rect">
            <a:avLst/>
          </a:prstGeom>
          <a:solidFill>
            <a:srgbClr val="06955C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19272" y="1097280"/>
            <a:ext cx="237743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Batch Screening
(20 files)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19272" y="1783080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EE"/>
                </a:solidFill>
                <a:latin typeface="Calibri"/>
              </a:rPr>
              <a:t>Process up to 20 PDFs/DOCs at once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44184" y="1005840"/>
            <a:ext cx="2560320" cy="1463040"/>
          </a:xfrm>
          <a:prstGeom prst="rect">
            <a:avLst/>
          </a:prstGeom>
          <a:solidFill>
            <a:srgbClr val="7C3AED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35624" y="1097280"/>
            <a:ext cx="237743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AI Evaluation
Report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35624" y="1783080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EE"/>
                </a:solidFill>
                <a:latin typeface="Calibri"/>
              </a:rPr>
              <a:t>Strengths, gaps &amp; detailed reasoning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697480"/>
            <a:ext cx="2560320" cy="1463040"/>
          </a:xfrm>
          <a:prstGeom prst="rect">
            <a:avLst/>
          </a:prstGeom>
          <a:solidFill>
            <a:srgbClr val="0F766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788920"/>
            <a:ext cx="237743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Career DNA
Fingerprint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474720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EE"/>
                </a:solidFill>
                <a:latin typeface="Calibri"/>
              </a:rPr>
              <a:t>8-archetype professional profiling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27832" y="2697480"/>
            <a:ext cx="2560320" cy="1463040"/>
          </a:xfrm>
          <a:prstGeom prst="rect">
            <a:avLst/>
          </a:prstGeom>
          <a:solidFill>
            <a:srgbClr val="F59E0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19272" y="2788920"/>
            <a:ext cx="237743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Candidate
Comparison (2–5)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19272" y="3474720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EE"/>
                </a:solidFill>
                <a:latin typeface="Calibri"/>
              </a:rPr>
              <a:t>Side-by-side multi-candidate ranking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44184" y="2697480"/>
            <a:ext cx="2560320" cy="1463040"/>
          </a:xfrm>
          <a:prstGeom prst="rect">
            <a:avLst/>
          </a:prstGeom>
          <a:solidFill>
            <a:srgbClr val="E65100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35624" y="2788920"/>
            <a:ext cx="237743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AI Resume Coach ★
(NEW)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35624" y="3474720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EE"/>
                </a:solidFill>
                <a:latin typeface="Calibri"/>
              </a:rPr>
              <a:t>Conversational coaching chatbot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37960"/>
            <a:ext cx="9144000" cy="320040"/>
          </a:xfrm>
          <a:prstGeom prst="rect">
            <a:avLst/>
          </a:prstGeom>
          <a:solidFill>
            <a:srgbClr val="1E1B4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" y="6556248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7D2FE"/>
                </a:solidFill>
                <a:latin typeface="Calibri"/>
              </a:rPr>
              <a:t>KIT AI Resume Screener  |  AI-Powered Recruitment Platform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5562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E1B4B"/>
                </a:solidFill>
                <a:latin typeface="Calibri"/>
              </a:rPr>
              <a:t>Career DNA Fingerprint — The Unique Profiler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640080"/>
            <a:ext cx="8229600" cy="45720"/>
          </a:xfrm>
          <a:prstGeom prst="rect">
            <a:avLst/>
          </a:prstGeom>
          <a:solidFill>
            <a:srgbClr val="4F46E5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1005840"/>
            <a:ext cx="1874519" cy="640080"/>
          </a:xfrm>
          <a:prstGeom prst="rect">
            <a:avLst/>
          </a:prstGeom>
          <a:solidFill>
            <a:srgbClr val="4F46E5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Backend Architect</a:t>
            </a:r>
          </a:p>
        </p:txBody>
      </p:sp>
      <p:sp>
        <p:nvSpPr>
          <p:cNvPr id="6" name="Rectangle 5"/>
          <p:cNvSpPr/>
          <p:nvPr/>
        </p:nvSpPr>
        <p:spPr>
          <a:xfrm>
            <a:off x="2514600" y="1005840"/>
            <a:ext cx="1874519" cy="640080"/>
          </a:xfrm>
          <a:prstGeom prst="rect">
            <a:avLst/>
          </a:prstGeom>
          <a:solidFill>
            <a:srgbClr val="066CC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Frontend Craftsman</a:t>
            </a:r>
          </a:p>
        </p:txBody>
      </p:sp>
      <p:sp>
        <p:nvSpPr>
          <p:cNvPr id="7" name="Rectangle 6"/>
          <p:cNvSpPr/>
          <p:nvPr/>
        </p:nvSpPr>
        <p:spPr>
          <a:xfrm>
            <a:off x="4617720" y="1005840"/>
            <a:ext cx="1874519" cy="640080"/>
          </a:xfrm>
          <a:prstGeom prst="rect">
            <a:avLst/>
          </a:prstGeom>
          <a:solidFill>
            <a:srgbClr val="7C3AED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Data &amp; ML Engineer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720840" y="1005840"/>
            <a:ext cx="1874519" cy="640080"/>
          </a:xfrm>
          <a:prstGeom prst="rect">
            <a:avLst/>
          </a:prstGeom>
          <a:solidFill>
            <a:srgbClr val="0F766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Cloud &amp; DevOps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920240"/>
            <a:ext cx="1874519" cy="640080"/>
          </a:xfrm>
          <a:prstGeom prst="rect">
            <a:avLst/>
          </a:prstGeom>
          <a:solidFill>
            <a:srgbClr val="06955C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Database Specialist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14600" y="1920240"/>
            <a:ext cx="1874519" cy="640080"/>
          </a:xfrm>
          <a:prstGeom prst="rect">
            <a:avLst/>
          </a:prstGeom>
          <a:solidFill>
            <a:srgbClr val="DC262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Security Engineer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17720" y="1920240"/>
            <a:ext cx="1874519" cy="640080"/>
          </a:xfrm>
          <a:prstGeom prst="rect">
            <a:avLst/>
          </a:prstGeom>
          <a:solidFill>
            <a:srgbClr val="D9770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Technical Leader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20840" y="1920240"/>
            <a:ext cx="1874519" cy="640080"/>
          </a:xfrm>
          <a:prstGeom prst="rect">
            <a:avLst/>
          </a:prstGeom>
          <a:solidFill>
            <a:srgbClr val="BE185D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Mobile Developer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63240"/>
            <a:ext cx="8321040" cy="777240"/>
          </a:xfrm>
          <a:prstGeom prst="rect">
            <a:avLst/>
          </a:prstGeom>
          <a:solidFill>
            <a:srgbClr val="F0F0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 i="0">
                <a:solidFill>
                  <a:srgbClr val="1E1B4B"/>
                </a:solidFill>
                <a:latin typeface="Calibri"/>
              </a:rPr>
              <a:t>Classifies candidates into 8 professional archetypes using weighted keyword taxonomy. Visualised as a radar chart. No other ATS has this feature.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4023360"/>
            <a:ext cx="3840480" cy="2103120"/>
          </a:xfrm>
          <a:prstGeom prst="rect">
            <a:avLst/>
          </a:prstGeom>
          <a:solidFill>
            <a:srgbClr val="F8F8F8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4754880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  <a:latin typeface="Calibri"/>
              </a:rPr>
              <a:t>◈  Radar Chart Visualisation
(rendered in browser via Chart.js)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4069080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1B4B"/>
                </a:solidFill>
                <a:latin typeface="Calibri"/>
              </a:rPr>
              <a:t>● Weighted keyword taxonomy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4553712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1B4B"/>
                </a:solidFill>
                <a:latin typeface="Calibri"/>
              </a:rPr>
              <a:t>● 8 unique professional archetypes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5038344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1B4B"/>
                </a:solidFill>
                <a:latin typeface="Calibri"/>
              </a:rPr>
              <a:t>● Real-time chart.js radar display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5522976"/>
            <a:ext cx="402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1B4B"/>
                </a:solidFill>
                <a:latin typeface="Calibri"/>
              </a:rPr>
              <a:t>● Candidate comparison ready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37960"/>
            <a:ext cx="9144000" cy="320040"/>
          </a:xfrm>
          <a:prstGeom prst="rect">
            <a:avLst/>
          </a:prstGeom>
          <a:solidFill>
            <a:srgbClr val="1E1B4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" y="6556248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7D2FE"/>
                </a:solidFill>
                <a:latin typeface="Calibri"/>
              </a:rPr>
              <a:t>KIT AI Resume Screener  |  AI-Powered Recruitment Platform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65562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E65100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E65100"/>
                </a:solidFill>
                <a:latin typeface="Calibri"/>
              </a:rPr>
              <a:t>★  NOVELTY FEATURE — AI Resume Coach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658368"/>
            <a:ext cx="8503920" cy="45720"/>
          </a:xfrm>
          <a:prstGeom prst="rect">
            <a:avLst/>
          </a:prstGeom>
          <a:solidFill>
            <a:srgbClr val="E65100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731520"/>
            <a:ext cx="8503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64748B"/>
                </a:solidFill>
                <a:latin typeface="Calibri"/>
              </a:rPr>
              <a:t>What No Existing ATS Has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164592"/>
            <a:ext cx="1280160" cy="420624"/>
          </a:xfrm>
          <a:prstGeom prst="rect">
            <a:avLst/>
          </a:prstGeom>
          <a:solidFill>
            <a:srgbClr val="E65100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★ UNIQUE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8503920" cy="1005840"/>
          </a:xfrm>
          <a:prstGeom prst="rect">
            <a:avLst/>
          </a:prstGeom>
          <a:solidFill>
            <a:srgbClr val="FFF3E0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200" b="0" i="0">
                <a:solidFill>
                  <a:srgbClr val="1E1B4B"/>
                </a:solidFill>
                <a:latin typeface="Calibri"/>
              </a:rPr>
              <a:t>Every other ATS gives a static one-shot report. KIT AI introduces a real-time, multi-turn conversational AI chatbot that is fully grounded in a specific candidate's resume AND the target job description. Recruiters can have a live dialogue to get personalised, actionable coaching advice.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377440"/>
            <a:ext cx="8503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1B4B"/>
                </a:solidFill>
                <a:latin typeface="Calibri"/>
              </a:rPr>
              <a:t>Example Coach Questions: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788920"/>
            <a:ext cx="4069080" cy="566928"/>
          </a:xfrm>
          <a:prstGeom prst="rect">
            <a:avLst/>
          </a:prstGeom>
          <a:solidFill>
            <a:srgbClr val="FFF0CC"/>
          </a:solidFill>
          <a:ln w="15240">
            <a:solidFill>
              <a:srgbClr val="FFB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 i="0">
                <a:solidFill>
                  <a:srgbClr val="7B3600"/>
                </a:solidFill>
                <a:latin typeface="Calibri"/>
              </a:rPr>
              <a:t>"How can this candidate improve their resume?"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63440" y="2788920"/>
            <a:ext cx="4069080" cy="566928"/>
          </a:xfrm>
          <a:prstGeom prst="rect">
            <a:avLst/>
          </a:prstGeom>
          <a:solidFill>
            <a:srgbClr val="FFF0CC"/>
          </a:solidFill>
          <a:ln w="15240">
            <a:solidFill>
              <a:srgbClr val="FFB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 i="0">
                <a:solidFill>
                  <a:srgbClr val="7B3600"/>
                </a:solidFill>
                <a:latin typeface="Calibri"/>
              </a:rPr>
              <a:t>"Write a cover letter for this candidate."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3502152"/>
            <a:ext cx="4069080" cy="566928"/>
          </a:xfrm>
          <a:prstGeom prst="rect">
            <a:avLst/>
          </a:prstGeom>
          <a:solidFill>
            <a:srgbClr val="FFF0CC"/>
          </a:solidFill>
          <a:ln w="15240">
            <a:solidFill>
              <a:srgbClr val="FFB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 i="0">
                <a:solidFill>
                  <a:srgbClr val="7B3600"/>
                </a:solidFill>
                <a:latin typeface="Calibri"/>
              </a:rPr>
              <a:t>"What skills should they learn to get shortlisted?"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3502152"/>
            <a:ext cx="4069080" cy="566928"/>
          </a:xfrm>
          <a:prstGeom prst="rect">
            <a:avLst/>
          </a:prstGeom>
          <a:solidFill>
            <a:srgbClr val="FFF0CC"/>
          </a:solidFill>
          <a:ln w="15240">
            <a:solidFill>
              <a:srgbClr val="FFB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 i="0">
                <a:solidFill>
                  <a:srgbClr val="7B3600"/>
                </a:solidFill>
                <a:latin typeface="Calibri"/>
              </a:rPr>
              <a:t>"What salary range should they expect?"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4215383"/>
            <a:ext cx="4069080" cy="566928"/>
          </a:xfrm>
          <a:prstGeom prst="rect">
            <a:avLst/>
          </a:prstGeom>
          <a:solidFill>
            <a:srgbClr val="FFF0CC"/>
          </a:solidFill>
          <a:ln w="15240">
            <a:solidFill>
              <a:srgbClr val="FFB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 i="0">
                <a:solidFill>
                  <a:srgbClr val="7B3600"/>
                </a:solidFill>
                <a:latin typeface="Calibri"/>
              </a:rPr>
              <a:t>"Compare skill gaps with job requirements."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3440" y="4215383"/>
            <a:ext cx="4069080" cy="566928"/>
          </a:xfrm>
          <a:prstGeom prst="rect">
            <a:avLst/>
          </a:prstGeom>
          <a:solidFill>
            <a:srgbClr val="FFF0CC"/>
          </a:solidFill>
          <a:ln w="15240">
            <a:solidFill>
              <a:srgbClr val="FFB3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 i="0">
                <a:solidFill>
                  <a:srgbClr val="7B3600"/>
                </a:solidFill>
                <a:latin typeface="Calibri"/>
              </a:rPr>
              <a:t>"What portfolio projects should they add?"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5120640"/>
            <a:ext cx="9144000" cy="475488"/>
          </a:xfrm>
          <a:prstGeom prst="rect">
            <a:avLst/>
          </a:prstGeom>
          <a:solidFill>
            <a:srgbClr val="1E1B4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" y="5138928"/>
            <a:ext cx="8778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B300"/>
                </a:solidFill>
                <a:latin typeface="Calibri"/>
              </a:rPr>
              <a:t>Powered by Google Gemini 2.0 Flash  ·  Multi-turn conversation  ·  Context-aware  ·  POST /api/coach/chat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37960"/>
            <a:ext cx="9144000" cy="320040"/>
          </a:xfrm>
          <a:prstGeom prst="rect">
            <a:avLst/>
          </a:prstGeom>
          <a:solidFill>
            <a:srgbClr val="1E1B4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7160" y="6556248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7D2FE"/>
                </a:solidFill>
                <a:latin typeface="Calibri"/>
              </a:rPr>
              <a:t>KIT AI Resume Screener  |  AI-Powered Recruitment Platform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65562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E1B4B"/>
                </a:solidFill>
                <a:latin typeface="Calibri"/>
              </a:rPr>
              <a:t>Technology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640080"/>
            <a:ext cx="8229600" cy="45720"/>
          </a:xfrm>
          <a:prstGeom prst="rect">
            <a:avLst/>
          </a:prstGeom>
          <a:solidFill>
            <a:srgbClr val="4F46E5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914400"/>
            <a:ext cx="2286000" cy="457200"/>
          </a:xfrm>
          <a:prstGeom prst="rect">
            <a:avLst/>
          </a:prstGeom>
          <a:solidFill>
            <a:srgbClr val="4F46E5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Layer</a:t>
            </a:r>
          </a:p>
        </p:txBody>
      </p:sp>
      <p:sp>
        <p:nvSpPr>
          <p:cNvPr id="6" name="Rectangle 5"/>
          <p:cNvSpPr/>
          <p:nvPr/>
        </p:nvSpPr>
        <p:spPr>
          <a:xfrm>
            <a:off x="2697480" y="914400"/>
            <a:ext cx="6035040" cy="457200"/>
          </a:xfrm>
          <a:prstGeom prst="rect">
            <a:avLst/>
          </a:prstGeom>
          <a:solidFill>
            <a:srgbClr val="4F46E5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Technology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371600"/>
            <a:ext cx="2286000" cy="530352"/>
          </a:xfrm>
          <a:prstGeom prst="rect">
            <a:avLst/>
          </a:prstGeom>
          <a:solidFill>
            <a:srgbClr val="F8F8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4F46E5"/>
                </a:solidFill>
                <a:latin typeface="Calibri"/>
              </a:rPr>
              <a:t>Backend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80" y="1371600"/>
            <a:ext cx="6035040" cy="530352"/>
          </a:xfrm>
          <a:prstGeom prst="rect">
            <a:avLst/>
          </a:prstGeom>
          <a:solidFill>
            <a:srgbClr val="F8F8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0" i="0">
                <a:solidFill>
                  <a:srgbClr val="1E1B4B"/>
                </a:solidFill>
                <a:latin typeface="Calibri"/>
              </a:rPr>
              <a:t>Java 21 + Spring Boot 3.2.5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938528"/>
            <a:ext cx="22860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4F46E5"/>
                </a:solidFill>
                <a:latin typeface="Calibri"/>
              </a:rPr>
              <a:t>AI Engine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97480" y="1938528"/>
            <a:ext cx="603504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0" i="0">
                <a:solidFill>
                  <a:srgbClr val="1E1B4B"/>
                </a:solidFill>
                <a:latin typeface="Calibri"/>
              </a:rPr>
              <a:t>Google Gemini 2.0 Flash API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505456"/>
            <a:ext cx="2286000" cy="530352"/>
          </a:xfrm>
          <a:prstGeom prst="rect">
            <a:avLst/>
          </a:prstGeom>
          <a:solidFill>
            <a:srgbClr val="F8F8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4F46E5"/>
                </a:solidFill>
                <a:latin typeface="Calibri"/>
              </a:rPr>
              <a:t>Resume Parser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7480" y="2505456"/>
            <a:ext cx="6035040" cy="530352"/>
          </a:xfrm>
          <a:prstGeom prst="rect">
            <a:avLst/>
          </a:prstGeom>
          <a:solidFill>
            <a:srgbClr val="F8F8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0" i="0">
                <a:solidFill>
                  <a:srgbClr val="1E1B4B"/>
                </a:solidFill>
                <a:latin typeface="Calibri"/>
              </a:rPr>
              <a:t>Apache Tika 2.9.1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72384"/>
            <a:ext cx="22860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4F46E5"/>
                </a:solidFill>
                <a:latin typeface="Calibri"/>
              </a:rPr>
              <a:t>Database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97480" y="3072384"/>
            <a:ext cx="603504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0" i="0">
                <a:solidFill>
                  <a:srgbClr val="1E1B4B"/>
                </a:solidFill>
                <a:latin typeface="Calibri"/>
              </a:rPr>
              <a:t>MySQL + H2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3639312"/>
            <a:ext cx="2286000" cy="530352"/>
          </a:xfrm>
          <a:prstGeom prst="rect">
            <a:avLst/>
          </a:prstGeom>
          <a:solidFill>
            <a:srgbClr val="F8F8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4F46E5"/>
                </a:solidFill>
                <a:latin typeface="Calibri"/>
              </a:rPr>
              <a:t>Frontend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97480" y="3639312"/>
            <a:ext cx="6035040" cy="530352"/>
          </a:xfrm>
          <a:prstGeom prst="rect">
            <a:avLst/>
          </a:prstGeom>
          <a:solidFill>
            <a:srgbClr val="F8F8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0" i="0">
                <a:solidFill>
                  <a:srgbClr val="1E1B4B"/>
                </a:solidFill>
                <a:latin typeface="Calibri"/>
              </a:rPr>
              <a:t>Vanilla JS + Chart.js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4206240"/>
            <a:ext cx="22860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1" i="0">
                <a:solidFill>
                  <a:srgbClr val="4F46E5"/>
                </a:solidFill>
                <a:latin typeface="Calibri"/>
              </a:rPr>
              <a:t>Build / Deploy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97480" y="4206240"/>
            <a:ext cx="603504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0" i="0">
                <a:solidFill>
                  <a:srgbClr val="1E1B4B"/>
                </a:solidFill>
                <a:latin typeface="Calibri"/>
              </a:rPr>
              <a:t>Maven + Docker + Railway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37960"/>
            <a:ext cx="9144000" cy="320040"/>
          </a:xfrm>
          <a:prstGeom prst="rect">
            <a:avLst/>
          </a:prstGeom>
          <a:solidFill>
            <a:srgbClr val="1E1B4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7160" y="6556248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7D2FE"/>
                </a:solidFill>
                <a:latin typeface="Calibri"/>
              </a:rPr>
              <a:t>KIT AI Resume Screener  |  AI-Powered Recruitment Platform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65562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E1B4B"/>
                </a:solidFill>
                <a:latin typeface="Calibri"/>
              </a:rPr>
              <a:t>Scoring Algorithm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640080"/>
            <a:ext cx="8229600" cy="45720"/>
          </a:xfrm>
          <a:prstGeom prst="rect">
            <a:avLst/>
          </a:prstGeom>
          <a:solidFill>
            <a:srgbClr val="4F46E5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868680"/>
            <a:ext cx="8503920" cy="658368"/>
          </a:xfrm>
          <a:prstGeom prst="rect">
            <a:avLst/>
          </a:prstGeom>
          <a:solidFill>
            <a:srgbClr val="1E1B4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Final Score = Skills(40%) + Semantic(30%) + Experience(20%) + Education(10%) + Preferred Bonus(+10 pts)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82880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1B4B"/>
                </a:solidFill>
                <a:latin typeface="Calibri"/>
              </a:rPr>
              <a:t>Skills Match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0" y="1874519"/>
            <a:ext cx="5943600" cy="347472"/>
          </a:xfrm>
          <a:prstGeom prst="rect">
            <a:avLst/>
          </a:prstGeom>
          <a:solidFill>
            <a:srgbClr val="F8F8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1874519"/>
            <a:ext cx="5943600" cy="347472"/>
          </a:xfrm>
          <a:prstGeom prst="rect">
            <a:avLst/>
          </a:prstGeom>
          <a:solidFill>
            <a:srgbClr val="4F46E5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0" y="1883664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F46E5"/>
                </a:solidFill>
                <a:latin typeface="Calibri"/>
              </a:rPr>
              <a:t>40%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65176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1B4B"/>
                </a:solidFill>
                <a:latin typeface="Calibri"/>
              </a:rPr>
              <a:t>Semantic Similarity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0" y="2697479"/>
            <a:ext cx="5943600" cy="347472"/>
          </a:xfrm>
          <a:prstGeom prst="rect">
            <a:avLst/>
          </a:prstGeom>
          <a:solidFill>
            <a:srgbClr val="F8F8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0" y="2697479"/>
            <a:ext cx="4457700" cy="347472"/>
          </a:xfrm>
          <a:prstGeom prst="rect">
            <a:avLst/>
          </a:prstGeom>
          <a:solidFill>
            <a:srgbClr val="7C3AED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92340" y="2706624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C3AED"/>
                </a:solidFill>
                <a:latin typeface="Calibri"/>
              </a:rPr>
              <a:t>30%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7472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1B4B"/>
                </a:solidFill>
                <a:latin typeface="Calibri"/>
              </a:rPr>
              <a:t>Experience Match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0" y="3520439"/>
            <a:ext cx="5943600" cy="347472"/>
          </a:xfrm>
          <a:prstGeom prst="rect">
            <a:avLst/>
          </a:prstGeom>
          <a:solidFill>
            <a:srgbClr val="F8F8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0" y="3520439"/>
            <a:ext cx="2971800" cy="347472"/>
          </a:xfrm>
          <a:prstGeom prst="rect">
            <a:avLst/>
          </a:prstGeom>
          <a:solidFill>
            <a:srgbClr val="06955C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06440" y="3529584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955C"/>
                </a:solidFill>
                <a:latin typeface="Calibri"/>
              </a:rPr>
              <a:t>20%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429768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1B4B"/>
                </a:solidFill>
                <a:latin typeface="Calibri"/>
              </a:rPr>
              <a:t>Education Match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0" y="4343400"/>
            <a:ext cx="5943600" cy="347472"/>
          </a:xfrm>
          <a:prstGeom prst="rect">
            <a:avLst/>
          </a:prstGeom>
          <a:solidFill>
            <a:srgbClr val="F8F8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43200" y="4343400"/>
            <a:ext cx="1485900" cy="347472"/>
          </a:xfrm>
          <a:prstGeom prst="rect">
            <a:avLst/>
          </a:prstGeom>
          <a:solidFill>
            <a:srgbClr val="0F766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20540" y="4352544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766E"/>
                </a:solidFill>
                <a:latin typeface="Calibri"/>
              </a:rPr>
              <a:t>10%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" y="512064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1B4B"/>
                </a:solidFill>
                <a:latin typeface="Calibri"/>
              </a:rPr>
              <a:t>Preferred Skills Bonus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0" y="5166359"/>
            <a:ext cx="5943600" cy="347472"/>
          </a:xfrm>
          <a:prstGeom prst="rect">
            <a:avLst/>
          </a:prstGeom>
          <a:solidFill>
            <a:srgbClr val="F8F8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43200" y="5166359"/>
            <a:ext cx="1485900" cy="347472"/>
          </a:xfrm>
          <a:prstGeom prst="rect">
            <a:avLst/>
          </a:prstGeom>
          <a:solidFill>
            <a:srgbClr val="E65100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20540" y="5175503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65100"/>
                </a:solidFill>
                <a:latin typeface="Calibri"/>
              </a:rPr>
              <a:t>10%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5943600"/>
            <a:ext cx="8503920" cy="411480"/>
          </a:xfrm>
          <a:prstGeom prst="rect">
            <a:avLst/>
          </a:prstGeom>
          <a:solidFill>
            <a:srgbClr val="F8F8F8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 i="0">
                <a:solidFill>
                  <a:srgbClr val="1E1B4B"/>
                </a:solidFill>
                <a:latin typeface="Calibri"/>
              </a:rPr>
              <a:t>Score ≥ 70%: Strong Match    |    Score ≥ 50%: Moderate Match    |    Score &lt; 50%: Weak 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37960"/>
            <a:ext cx="9144000" cy="320040"/>
          </a:xfrm>
          <a:prstGeom prst="rect">
            <a:avLst/>
          </a:prstGeom>
          <a:solidFill>
            <a:srgbClr val="1E1B4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7160" y="6556248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7D2FE"/>
                </a:solidFill>
                <a:latin typeface="Calibri"/>
              </a:rPr>
              <a:t>KIT AI Resume Screener  |  AI-Powered Recruitment Platform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0" y="65562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Database Design — ER Diagram (Chen Notation)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645920" cy="640080"/>
          </a:xfrm>
          <a:prstGeom prst="rect">
            <a:avLst/>
          </a:prstGeom>
          <a:solidFill>
            <a:srgbClr val="F5A623"/>
          </a:solidFill>
          <a:ln w="19050">
            <a:solidFill>
              <a:srgbClr val="CC8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CANDIDATE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0" y="1371600"/>
            <a:ext cx="1828800" cy="640080"/>
          </a:xfrm>
          <a:prstGeom prst="rect">
            <a:avLst/>
          </a:prstGeom>
          <a:solidFill>
            <a:srgbClr val="F5A623"/>
          </a:solidFill>
          <a:ln w="19050">
            <a:solidFill>
              <a:srgbClr val="CC8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JOB_DESCRIPTION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0" y="3840480"/>
            <a:ext cx="2011680" cy="731520"/>
          </a:xfrm>
          <a:prstGeom prst="rect">
            <a:avLst/>
          </a:prstGeom>
          <a:solidFill>
            <a:srgbClr val="F5A623"/>
          </a:solidFill>
          <a:ln w="19050">
            <a:solidFill>
              <a:srgbClr val="CC8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SCREENING RESULT</a:t>
            </a:r>
          </a:p>
        </p:txBody>
      </p:sp>
      <p:sp>
        <p:nvSpPr>
          <p:cNvPr id="7" name="Regular Pentagon 6"/>
          <p:cNvSpPr/>
          <p:nvPr/>
        </p:nvSpPr>
        <p:spPr>
          <a:xfrm>
            <a:off x="2560320" y="2651760"/>
            <a:ext cx="1097280" cy="548640"/>
          </a:xfrm>
          <a:prstGeom prst="pentagon">
            <a:avLst/>
          </a:prstGeom>
          <a:solidFill>
            <a:srgbClr val="FFD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i="1" b="0">
                <a:solidFill>
                  <a:srgbClr val="000000"/>
                </a:solidFill>
              </a:rPr>
              <a:t>submits</a:t>
            </a:r>
          </a:p>
        </p:txBody>
      </p:sp>
      <p:sp>
        <p:nvSpPr>
          <p:cNvPr id="8" name="Regular Pentagon 7"/>
          <p:cNvSpPr/>
          <p:nvPr/>
        </p:nvSpPr>
        <p:spPr>
          <a:xfrm>
            <a:off x="5486400" y="2651760"/>
            <a:ext cx="1097280" cy="548640"/>
          </a:xfrm>
          <a:prstGeom prst="pentagon">
            <a:avLst/>
          </a:prstGeom>
          <a:solidFill>
            <a:srgbClr val="FFD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000" i="1" b="0">
                <a:solidFill>
                  <a:srgbClr val="000000"/>
                </a:solidFill>
              </a:rPr>
              <a:t>receives</a:t>
            </a:r>
          </a:p>
        </p:txBody>
      </p:sp>
      <p:sp>
        <p:nvSpPr>
          <p:cNvPr id="9" name="Oval 8"/>
          <p:cNvSpPr/>
          <p:nvPr/>
        </p:nvSpPr>
        <p:spPr>
          <a:xfrm>
            <a:off x="91440" y="822960"/>
            <a:ext cx="1005840" cy="320040"/>
          </a:xfrm>
          <a:prstGeom prst="ellipse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FFFFFF"/>
                </a:solidFill>
              </a:rPr>
              <a:t>CandidateID (PK)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4360" y="982980"/>
            <a:ext cx="685800" cy="708660"/>
          </a:xfrm>
          <a:prstGeom prst="line">
            <a:avLst/>
          </a:prstGeom>
          <a:ln w="12700">
            <a:solidFill>
              <a:srgbClr val="216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0" y="1645920"/>
            <a:ext cx="1005840" cy="320040"/>
          </a:xfrm>
          <a:prstGeom prst="ellipse">
            <a:avLst/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0">
                <a:solidFill>
                  <a:srgbClr val="FFFFFF"/>
                </a:solidFill>
              </a:rPr>
              <a:t>Name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502920" y="1691640"/>
            <a:ext cx="777240" cy="114300"/>
          </a:xfrm>
          <a:prstGeom prst="line">
            <a:avLst/>
          </a:prstGeom>
          <a:ln w="12700">
            <a:solidFill>
              <a:srgbClr val="216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0" y="2194560"/>
            <a:ext cx="1005840" cy="320040"/>
          </a:xfrm>
          <a:prstGeom prst="ellipse">
            <a:avLst/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0">
                <a:solidFill>
                  <a:srgbClr val="FFFFFF"/>
                </a:solidFill>
              </a:rPr>
              <a:t>Email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502920" y="1691640"/>
            <a:ext cx="777240" cy="662939"/>
          </a:xfrm>
          <a:prstGeom prst="line">
            <a:avLst/>
          </a:prstGeom>
          <a:ln w="12700">
            <a:solidFill>
              <a:srgbClr val="216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0" y="2743200"/>
            <a:ext cx="1005840" cy="320040"/>
          </a:xfrm>
          <a:prstGeom prst="ellipse">
            <a:avLst/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0">
                <a:solidFill>
                  <a:srgbClr val="FFFFFF"/>
                </a:solidFill>
              </a:rPr>
              <a:t>Phone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502920" y="1691640"/>
            <a:ext cx="777240" cy="1211580"/>
          </a:xfrm>
          <a:prstGeom prst="line">
            <a:avLst/>
          </a:prstGeom>
          <a:ln w="12700">
            <a:solidFill>
              <a:srgbClr val="216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91440" y="3291840"/>
            <a:ext cx="1005840" cy="320040"/>
          </a:xfrm>
          <a:prstGeom prst="ellipse">
            <a:avLst/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0">
                <a:solidFill>
                  <a:srgbClr val="FFFFFF"/>
                </a:solidFill>
              </a:rPr>
              <a:t>ExtractedSkills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594360" y="1691640"/>
            <a:ext cx="685800" cy="1760220"/>
          </a:xfrm>
          <a:prstGeom prst="line">
            <a:avLst/>
          </a:prstGeom>
          <a:ln w="12700">
            <a:solidFill>
              <a:srgbClr val="216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914400" y="3566160"/>
            <a:ext cx="1005840" cy="320040"/>
          </a:xfrm>
          <a:prstGeom prst="ellipse">
            <a:avLst/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0">
                <a:solidFill>
                  <a:srgbClr val="FFFFFF"/>
                </a:solidFill>
              </a:rPr>
              <a:t>ExperienceYears</a:t>
            </a:r>
          </a:p>
        </p:txBody>
      </p:sp>
      <p:cxnSp>
        <p:nvCxnSpPr>
          <p:cNvPr id="20" name="Connector 19"/>
          <p:cNvCxnSpPr/>
          <p:nvPr/>
        </p:nvCxnSpPr>
        <p:spPr>
          <a:xfrm flipH="1" flipV="1">
            <a:off x="1280160" y="1691640"/>
            <a:ext cx="137160" cy="2034540"/>
          </a:xfrm>
          <a:prstGeom prst="line">
            <a:avLst/>
          </a:prstGeom>
          <a:ln w="12700">
            <a:solidFill>
              <a:srgbClr val="216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1828800" y="3291840"/>
            <a:ext cx="1005840" cy="320040"/>
          </a:xfrm>
          <a:prstGeom prst="ellipse">
            <a:avLst/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0">
                <a:solidFill>
                  <a:srgbClr val="FFFFFF"/>
                </a:solidFill>
              </a:rPr>
              <a:t>Education</a:t>
            </a:r>
          </a:p>
        </p:txBody>
      </p:sp>
      <p:cxnSp>
        <p:nvCxnSpPr>
          <p:cNvPr id="22" name="Connector 21"/>
          <p:cNvCxnSpPr/>
          <p:nvPr/>
        </p:nvCxnSpPr>
        <p:spPr>
          <a:xfrm flipH="1" flipV="1">
            <a:off x="1280160" y="1691640"/>
            <a:ext cx="1051560" cy="1760220"/>
          </a:xfrm>
          <a:prstGeom prst="line">
            <a:avLst/>
          </a:prstGeom>
          <a:ln w="12700">
            <a:solidFill>
              <a:srgbClr val="216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2103120" y="2194560"/>
            <a:ext cx="1005840" cy="320040"/>
          </a:xfrm>
          <a:prstGeom prst="ellipse">
            <a:avLst/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0">
                <a:solidFill>
                  <a:srgbClr val="FFFFFF"/>
                </a:solidFill>
              </a:rPr>
              <a:t>ResumeText</a:t>
            </a:r>
          </a:p>
        </p:txBody>
      </p:sp>
      <p:cxnSp>
        <p:nvCxnSpPr>
          <p:cNvPr id="24" name="Connector 23"/>
          <p:cNvCxnSpPr/>
          <p:nvPr/>
        </p:nvCxnSpPr>
        <p:spPr>
          <a:xfrm flipH="1" flipV="1">
            <a:off x="1280160" y="1691640"/>
            <a:ext cx="1325879" cy="662939"/>
          </a:xfrm>
          <a:prstGeom prst="line">
            <a:avLst/>
          </a:prstGeom>
          <a:ln w="12700">
            <a:solidFill>
              <a:srgbClr val="216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2103120" y="2743200"/>
            <a:ext cx="1005840" cy="320040"/>
          </a:xfrm>
          <a:prstGeom prst="ellipse">
            <a:avLst/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0">
                <a:solidFill>
                  <a:srgbClr val="FFFFFF"/>
                </a:solidFill>
              </a:rPr>
              <a:t>ResumeFilename</a:t>
            </a:r>
          </a:p>
        </p:txBody>
      </p:sp>
      <p:cxnSp>
        <p:nvCxnSpPr>
          <p:cNvPr id="26" name="Connector 25"/>
          <p:cNvCxnSpPr/>
          <p:nvPr/>
        </p:nvCxnSpPr>
        <p:spPr>
          <a:xfrm flipH="1" flipV="1">
            <a:off x="1280160" y="1691640"/>
            <a:ext cx="1325879" cy="1211580"/>
          </a:xfrm>
          <a:prstGeom prst="line">
            <a:avLst/>
          </a:prstGeom>
          <a:ln w="12700">
            <a:solidFill>
              <a:srgbClr val="216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2103120" y="1645920"/>
            <a:ext cx="1005840" cy="320040"/>
          </a:xfrm>
          <a:prstGeom prst="ellipse">
            <a:avLst/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0">
                <a:solidFill>
                  <a:srgbClr val="FFFFFF"/>
                </a:solidFill>
              </a:rPr>
              <a:t>CreatedAt</a:t>
            </a:r>
          </a:p>
        </p:txBody>
      </p:sp>
      <p:cxnSp>
        <p:nvCxnSpPr>
          <p:cNvPr id="28" name="Connector 27"/>
          <p:cNvCxnSpPr/>
          <p:nvPr/>
        </p:nvCxnSpPr>
        <p:spPr>
          <a:xfrm flipH="1" flipV="1">
            <a:off x="1280160" y="1691640"/>
            <a:ext cx="1325879" cy="114300"/>
          </a:xfrm>
          <a:prstGeom prst="line">
            <a:avLst/>
          </a:prstGeom>
          <a:ln w="12700">
            <a:solidFill>
              <a:srgbClr val="216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8686800" y="822960"/>
            <a:ext cx="1005840" cy="320040"/>
          </a:xfrm>
          <a:prstGeom prst="ellipse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1">
                <a:solidFill>
                  <a:srgbClr val="FFFFFF"/>
                </a:solidFill>
              </a:rPr>
              <a:t>JobID (PK)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7955279" y="982980"/>
            <a:ext cx="1234441" cy="708660"/>
          </a:xfrm>
          <a:prstGeom prst="line">
            <a:avLst/>
          </a:prstGeom>
          <a:ln w="12700">
            <a:solidFill>
              <a:srgbClr val="216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8686800" y="1645920"/>
            <a:ext cx="1005840" cy="320040"/>
          </a:xfrm>
          <a:prstGeom prst="ellipse">
            <a:avLst/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0">
                <a:solidFill>
                  <a:srgbClr val="FFFFFF"/>
                </a:solidFill>
              </a:rPr>
              <a:t>Title</a:t>
            </a:r>
          </a:p>
        </p:txBody>
      </p:sp>
      <p:cxnSp>
        <p:nvCxnSpPr>
          <p:cNvPr id="32" name="Connector 31"/>
          <p:cNvCxnSpPr/>
          <p:nvPr/>
        </p:nvCxnSpPr>
        <p:spPr>
          <a:xfrm flipH="1" flipV="1">
            <a:off x="7955279" y="1691640"/>
            <a:ext cx="1234441" cy="114300"/>
          </a:xfrm>
          <a:prstGeom prst="line">
            <a:avLst/>
          </a:prstGeom>
          <a:ln w="12700">
            <a:solidFill>
              <a:srgbClr val="216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8686800" y="2194560"/>
            <a:ext cx="1005840" cy="320040"/>
          </a:xfrm>
          <a:prstGeom prst="ellipse">
            <a:avLst/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0">
                <a:solidFill>
                  <a:srgbClr val="FFFFFF"/>
                </a:solidFill>
              </a:rPr>
              <a:t>Department</a:t>
            </a:r>
          </a:p>
        </p:txBody>
      </p:sp>
      <p:cxnSp>
        <p:nvCxnSpPr>
          <p:cNvPr id="34" name="Connector 33"/>
          <p:cNvCxnSpPr/>
          <p:nvPr/>
        </p:nvCxnSpPr>
        <p:spPr>
          <a:xfrm flipH="1" flipV="1">
            <a:off x="7955279" y="1691640"/>
            <a:ext cx="1234441" cy="662939"/>
          </a:xfrm>
          <a:prstGeom prst="line">
            <a:avLst/>
          </a:prstGeom>
          <a:ln w="12700">
            <a:solidFill>
              <a:srgbClr val="216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8686800" y="2743200"/>
            <a:ext cx="1005840" cy="320040"/>
          </a:xfrm>
          <a:prstGeom prst="ellipse">
            <a:avLst/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0">
                <a:solidFill>
                  <a:srgbClr val="FFFFFF"/>
                </a:solidFill>
              </a:rPr>
              <a:t>Description</a:t>
            </a:r>
          </a:p>
        </p:txBody>
      </p:sp>
      <p:cxnSp>
        <p:nvCxnSpPr>
          <p:cNvPr id="36" name="Connector 35"/>
          <p:cNvCxnSpPr/>
          <p:nvPr/>
        </p:nvCxnSpPr>
        <p:spPr>
          <a:xfrm flipH="1" flipV="1">
            <a:off x="7955279" y="1691640"/>
            <a:ext cx="1234441" cy="1211580"/>
          </a:xfrm>
          <a:prstGeom prst="line">
            <a:avLst/>
          </a:prstGeom>
          <a:ln w="12700">
            <a:solidFill>
              <a:srgbClr val="216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8321040" y="3291840"/>
            <a:ext cx="1005840" cy="320040"/>
          </a:xfrm>
          <a:prstGeom prst="ellipse">
            <a:avLst/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0">
                <a:solidFill>
                  <a:srgbClr val="FFFFFF"/>
                </a:solidFill>
              </a:rPr>
              <a:t>RequiredSkills</a:t>
            </a:r>
          </a:p>
        </p:txBody>
      </p:sp>
      <p:cxnSp>
        <p:nvCxnSpPr>
          <p:cNvPr id="38" name="Connector 37"/>
          <p:cNvCxnSpPr/>
          <p:nvPr/>
        </p:nvCxnSpPr>
        <p:spPr>
          <a:xfrm flipH="1" flipV="1">
            <a:off x="7955279" y="1691640"/>
            <a:ext cx="868681" cy="1760220"/>
          </a:xfrm>
          <a:prstGeom prst="line">
            <a:avLst/>
          </a:prstGeom>
          <a:ln w="12700">
            <a:solidFill>
              <a:srgbClr val="216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7772400" y="3566160"/>
            <a:ext cx="1005840" cy="320040"/>
          </a:xfrm>
          <a:prstGeom prst="ellipse">
            <a:avLst/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0">
                <a:solidFill>
                  <a:srgbClr val="FFFFFF"/>
                </a:solidFill>
              </a:rPr>
              <a:t>PreferredSkills</a:t>
            </a:r>
          </a:p>
        </p:txBody>
      </p:sp>
      <p:cxnSp>
        <p:nvCxnSpPr>
          <p:cNvPr id="40" name="Connector 39"/>
          <p:cNvCxnSpPr/>
          <p:nvPr/>
        </p:nvCxnSpPr>
        <p:spPr>
          <a:xfrm flipH="1" flipV="1">
            <a:off x="7955279" y="1691640"/>
            <a:ext cx="320041" cy="2034540"/>
          </a:xfrm>
          <a:prstGeom prst="line">
            <a:avLst/>
          </a:prstGeom>
          <a:ln w="12700">
            <a:solidFill>
              <a:srgbClr val="216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675120" y="3291840"/>
            <a:ext cx="1005840" cy="320040"/>
          </a:xfrm>
          <a:prstGeom prst="ellipse">
            <a:avLst/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0">
                <a:solidFill>
                  <a:srgbClr val="FFFFFF"/>
                </a:solidFill>
              </a:rPr>
              <a:t>MinExperience</a:t>
            </a:r>
          </a:p>
        </p:txBody>
      </p:sp>
      <p:cxnSp>
        <p:nvCxnSpPr>
          <p:cNvPr id="42" name="Connector 41"/>
          <p:cNvCxnSpPr/>
          <p:nvPr/>
        </p:nvCxnSpPr>
        <p:spPr>
          <a:xfrm flipV="1">
            <a:off x="7178040" y="1691640"/>
            <a:ext cx="777239" cy="1760220"/>
          </a:xfrm>
          <a:prstGeom prst="line">
            <a:avLst/>
          </a:prstGeom>
          <a:ln w="12700">
            <a:solidFill>
              <a:srgbClr val="216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6675120" y="2743200"/>
            <a:ext cx="1005840" cy="320040"/>
          </a:xfrm>
          <a:prstGeom prst="ellipse">
            <a:avLst/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0">
                <a:solidFill>
                  <a:srgbClr val="FFFFFF"/>
                </a:solidFill>
              </a:rPr>
              <a:t>MinEducation</a:t>
            </a:r>
          </a:p>
        </p:txBody>
      </p:sp>
      <p:cxnSp>
        <p:nvCxnSpPr>
          <p:cNvPr id="44" name="Connector 43"/>
          <p:cNvCxnSpPr/>
          <p:nvPr/>
        </p:nvCxnSpPr>
        <p:spPr>
          <a:xfrm flipV="1">
            <a:off x="7178040" y="1691640"/>
            <a:ext cx="777239" cy="1211580"/>
          </a:xfrm>
          <a:prstGeom prst="line">
            <a:avLst/>
          </a:prstGeom>
          <a:ln w="12700">
            <a:solidFill>
              <a:srgbClr val="216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6675120" y="2194560"/>
            <a:ext cx="1005840" cy="320040"/>
          </a:xfrm>
          <a:prstGeom prst="ellipse">
            <a:avLst/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900" b="0">
                <a:solidFill>
                  <a:srgbClr val="FFFFFF"/>
                </a:solidFill>
              </a:rPr>
              <a:t>CreatedAt</a:t>
            </a:r>
          </a:p>
        </p:txBody>
      </p:sp>
      <p:cxnSp>
        <p:nvCxnSpPr>
          <p:cNvPr id="46" name="Connector 45"/>
          <p:cNvCxnSpPr/>
          <p:nvPr/>
        </p:nvCxnSpPr>
        <p:spPr>
          <a:xfrm flipV="1">
            <a:off x="7178040" y="1691640"/>
            <a:ext cx="777239" cy="662939"/>
          </a:xfrm>
          <a:prstGeom prst="line">
            <a:avLst/>
          </a:prstGeom>
          <a:ln w="12700">
            <a:solidFill>
              <a:srgbClr val="216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2560320" y="4480560"/>
            <a:ext cx="1005840" cy="320040"/>
          </a:xfrm>
          <a:prstGeom prst="ellipse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</a:rPr>
              <a:t>ResultID (PK)</a:t>
            </a:r>
          </a:p>
        </p:txBody>
      </p:sp>
      <p:cxnSp>
        <p:nvCxnSpPr>
          <p:cNvPr id="48" name="Connector 47"/>
          <p:cNvCxnSpPr/>
          <p:nvPr/>
        </p:nvCxnSpPr>
        <p:spPr>
          <a:xfrm flipV="1">
            <a:off x="3063239" y="4206240"/>
            <a:ext cx="1417321" cy="434340"/>
          </a:xfrm>
          <a:prstGeom prst="line">
            <a:avLst/>
          </a:prstGeom>
          <a:ln w="12700">
            <a:solidFill>
              <a:srgbClr val="216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/>
          <p:cNvSpPr/>
          <p:nvPr/>
        </p:nvSpPr>
        <p:spPr>
          <a:xfrm>
            <a:off x="2011680" y="5120640"/>
            <a:ext cx="1005840" cy="320040"/>
          </a:xfrm>
          <a:prstGeom prst="ellipse">
            <a:avLst/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0">
                <a:solidFill>
                  <a:srgbClr val="FFFFFF"/>
                </a:solidFill>
              </a:rPr>
              <a:t>MatchScore</a:t>
            </a:r>
          </a:p>
        </p:txBody>
      </p:sp>
      <p:cxnSp>
        <p:nvCxnSpPr>
          <p:cNvPr id="50" name="Connector 49"/>
          <p:cNvCxnSpPr/>
          <p:nvPr/>
        </p:nvCxnSpPr>
        <p:spPr>
          <a:xfrm flipV="1">
            <a:off x="2514600" y="4206240"/>
            <a:ext cx="1965960" cy="1074419"/>
          </a:xfrm>
          <a:prstGeom prst="line">
            <a:avLst/>
          </a:prstGeom>
          <a:ln w="12700">
            <a:solidFill>
              <a:srgbClr val="216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2011680" y="5669280"/>
            <a:ext cx="1005840" cy="320040"/>
          </a:xfrm>
          <a:prstGeom prst="ellipse">
            <a:avLst/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0">
                <a:solidFill>
                  <a:srgbClr val="FFFFFF"/>
                </a:solidFill>
              </a:rPr>
              <a:t>MatchStatus</a:t>
            </a:r>
          </a:p>
        </p:txBody>
      </p:sp>
      <p:cxnSp>
        <p:nvCxnSpPr>
          <p:cNvPr id="52" name="Connector 51"/>
          <p:cNvCxnSpPr/>
          <p:nvPr/>
        </p:nvCxnSpPr>
        <p:spPr>
          <a:xfrm flipV="1">
            <a:off x="2514600" y="4206240"/>
            <a:ext cx="1965960" cy="1623060"/>
          </a:xfrm>
          <a:prstGeom prst="line">
            <a:avLst/>
          </a:prstGeom>
          <a:ln w="12700">
            <a:solidFill>
              <a:srgbClr val="216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/>
          <p:cNvSpPr/>
          <p:nvPr/>
        </p:nvSpPr>
        <p:spPr>
          <a:xfrm>
            <a:off x="2834640" y="6126480"/>
            <a:ext cx="1005840" cy="320040"/>
          </a:xfrm>
          <a:prstGeom prst="ellipse">
            <a:avLst/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0">
                <a:solidFill>
                  <a:srgbClr val="FFFFFF"/>
                </a:solidFill>
              </a:rPr>
              <a:t>ScreeningMode</a:t>
            </a:r>
          </a:p>
        </p:txBody>
      </p:sp>
      <p:cxnSp>
        <p:nvCxnSpPr>
          <p:cNvPr id="54" name="Connector 53"/>
          <p:cNvCxnSpPr/>
          <p:nvPr/>
        </p:nvCxnSpPr>
        <p:spPr>
          <a:xfrm flipV="1">
            <a:off x="3337560" y="4206240"/>
            <a:ext cx="1143000" cy="2080260"/>
          </a:xfrm>
          <a:prstGeom prst="line">
            <a:avLst/>
          </a:prstGeom>
          <a:ln w="12700">
            <a:solidFill>
              <a:srgbClr val="216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3840480" y="6400800"/>
            <a:ext cx="1005840" cy="320040"/>
          </a:xfrm>
          <a:prstGeom prst="ellipse">
            <a:avLst/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0">
                <a:solidFill>
                  <a:srgbClr val="FFFFFF"/>
                </a:solidFill>
              </a:rPr>
              <a:t>AISummary</a:t>
            </a:r>
          </a:p>
        </p:txBody>
      </p:sp>
      <p:cxnSp>
        <p:nvCxnSpPr>
          <p:cNvPr id="56" name="Connector 55"/>
          <p:cNvCxnSpPr/>
          <p:nvPr/>
        </p:nvCxnSpPr>
        <p:spPr>
          <a:xfrm flipV="1">
            <a:off x="4343400" y="4206240"/>
            <a:ext cx="137160" cy="2354580"/>
          </a:xfrm>
          <a:prstGeom prst="line">
            <a:avLst/>
          </a:prstGeom>
          <a:ln w="12700">
            <a:solidFill>
              <a:srgbClr val="216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4663440" y="6400800"/>
            <a:ext cx="1005840" cy="320040"/>
          </a:xfrm>
          <a:prstGeom prst="ellipse">
            <a:avLst/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0">
                <a:solidFill>
                  <a:srgbClr val="FFFFFF"/>
                </a:solidFill>
              </a:rPr>
              <a:t>AIStrengths</a:t>
            </a:r>
          </a:p>
        </p:txBody>
      </p:sp>
      <p:cxnSp>
        <p:nvCxnSpPr>
          <p:cNvPr id="58" name="Connector 57"/>
          <p:cNvCxnSpPr/>
          <p:nvPr/>
        </p:nvCxnSpPr>
        <p:spPr>
          <a:xfrm flipH="1" flipV="1">
            <a:off x="4480560" y="4206240"/>
            <a:ext cx="685799" cy="2354580"/>
          </a:xfrm>
          <a:prstGeom prst="line">
            <a:avLst/>
          </a:prstGeom>
          <a:ln w="12700">
            <a:solidFill>
              <a:srgbClr val="216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Oval 58"/>
          <p:cNvSpPr/>
          <p:nvPr/>
        </p:nvSpPr>
        <p:spPr>
          <a:xfrm>
            <a:off x="5669280" y="6400800"/>
            <a:ext cx="1005840" cy="320040"/>
          </a:xfrm>
          <a:prstGeom prst="ellipse">
            <a:avLst/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0">
                <a:solidFill>
                  <a:srgbClr val="FFFFFF"/>
                </a:solidFill>
              </a:rPr>
              <a:t>AIWeaknesses</a:t>
            </a:r>
          </a:p>
        </p:txBody>
      </p:sp>
      <p:cxnSp>
        <p:nvCxnSpPr>
          <p:cNvPr id="60" name="Connector 59"/>
          <p:cNvCxnSpPr/>
          <p:nvPr/>
        </p:nvCxnSpPr>
        <p:spPr>
          <a:xfrm flipH="1" flipV="1">
            <a:off x="4480560" y="4206240"/>
            <a:ext cx="1691640" cy="2354580"/>
          </a:xfrm>
          <a:prstGeom prst="line">
            <a:avLst/>
          </a:prstGeom>
          <a:ln w="12700">
            <a:solidFill>
              <a:srgbClr val="216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6400800" y="6126480"/>
            <a:ext cx="1005840" cy="320040"/>
          </a:xfrm>
          <a:prstGeom prst="ellipse">
            <a:avLst/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0">
                <a:solidFill>
                  <a:srgbClr val="FFFFFF"/>
                </a:solidFill>
              </a:rPr>
              <a:t>SuggestedQuestions</a:t>
            </a:r>
          </a:p>
        </p:txBody>
      </p:sp>
      <p:cxnSp>
        <p:nvCxnSpPr>
          <p:cNvPr id="62" name="Connector 61"/>
          <p:cNvCxnSpPr/>
          <p:nvPr/>
        </p:nvCxnSpPr>
        <p:spPr>
          <a:xfrm flipH="1" flipV="1">
            <a:off x="4480560" y="4206240"/>
            <a:ext cx="2423160" cy="2080260"/>
          </a:xfrm>
          <a:prstGeom prst="line">
            <a:avLst/>
          </a:prstGeom>
          <a:ln w="12700">
            <a:solidFill>
              <a:srgbClr val="216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Oval 62"/>
          <p:cNvSpPr/>
          <p:nvPr/>
        </p:nvSpPr>
        <p:spPr>
          <a:xfrm>
            <a:off x="6583680" y="5669280"/>
            <a:ext cx="1005840" cy="320040"/>
          </a:xfrm>
          <a:prstGeom prst="ellipse">
            <a:avLst/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0">
                <a:solidFill>
                  <a:srgbClr val="FFFFFF"/>
                </a:solidFill>
              </a:rPr>
              <a:t>CareerDNAProfile</a:t>
            </a:r>
          </a:p>
        </p:txBody>
      </p:sp>
      <p:cxnSp>
        <p:nvCxnSpPr>
          <p:cNvPr id="64" name="Connector 63"/>
          <p:cNvCxnSpPr/>
          <p:nvPr/>
        </p:nvCxnSpPr>
        <p:spPr>
          <a:xfrm flipH="1" flipV="1">
            <a:off x="4480560" y="4206240"/>
            <a:ext cx="2606040" cy="1623060"/>
          </a:xfrm>
          <a:prstGeom prst="line">
            <a:avLst/>
          </a:prstGeom>
          <a:ln w="12700">
            <a:solidFill>
              <a:srgbClr val="216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6583680" y="5120640"/>
            <a:ext cx="1005840" cy="320040"/>
          </a:xfrm>
          <a:prstGeom prst="ellipse">
            <a:avLst/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0">
                <a:solidFill>
                  <a:srgbClr val="FFFFFF"/>
                </a:solidFill>
              </a:rPr>
              <a:t>RecruiterNotes</a:t>
            </a:r>
          </a:p>
        </p:txBody>
      </p:sp>
      <p:cxnSp>
        <p:nvCxnSpPr>
          <p:cNvPr id="66" name="Connector 65"/>
          <p:cNvCxnSpPr/>
          <p:nvPr/>
        </p:nvCxnSpPr>
        <p:spPr>
          <a:xfrm flipH="1" flipV="1">
            <a:off x="4480560" y="4206240"/>
            <a:ext cx="2606040" cy="1074419"/>
          </a:xfrm>
          <a:prstGeom prst="line">
            <a:avLst/>
          </a:prstGeom>
          <a:ln w="12700">
            <a:solidFill>
              <a:srgbClr val="216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/>
          <p:cNvSpPr/>
          <p:nvPr/>
        </p:nvSpPr>
        <p:spPr>
          <a:xfrm>
            <a:off x="5943600" y="4572000"/>
            <a:ext cx="1005840" cy="320040"/>
          </a:xfrm>
          <a:prstGeom prst="ellipse">
            <a:avLst/>
          </a:prstGeom>
          <a:solidFill>
            <a:srgbClr val="4DB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0">
                <a:solidFill>
                  <a:srgbClr val="FFFFFF"/>
                </a:solidFill>
              </a:rPr>
              <a:t>ScreenedAt</a:t>
            </a:r>
          </a:p>
        </p:txBody>
      </p:sp>
      <p:cxnSp>
        <p:nvCxnSpPr>
          <p:cNvPr id="68" name="Connector 67"/>
          <p:cNvCxnSpPr/>
          <p:nvPr/>
        </p:nvCxnSpPr>
        <p:spPr>
          <a:xfrm flipH="1" flipV="1">
            <a:off x="4480560" y="4206240"/>
            <a:ext cx="1965960" cy="525780"/>
          </a:xfrm>
          <a:prstGeom prst="line">
            <a:avLst/>
          </a:prstGeom>
          <a:ln w="12700">
            <a:solidFill>
              <a:srgbClr val="216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val 68"/>
          <p:cNvSpPr/>
          <p:nvPr/>
        </p:nvSpPr>
        <p:spPr>
          <a:xfrm>
            <a:off x="3474720" y="4480560"/>
            <a:ext cx="1005840" cy="320040"/>
          </a:xfrm>
          <a:prstGeom prst="ellipse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0">
                <a:solidFill>
                  <a:srgbClr val="FFFFFF"/>
                </a:solidFill>
              </a:rPr>
              <a:t>CandidateID (FK)</a:t>
            </a:r>
          </a:p>
        </p:txBody>
      </p:sp>
      <p:cxnSp>
        <p:nvCxnSpPr>
          <p:cNvPr id="70" name="Connector 69"/>
          <p:cNvCxnSpPr/>
          <p:nvPr/>
        </p:nvCxnSpPr>
        <p:spPr>
          <a:xfrm flipV="1">
            <a:off x="3977639" y="4206240"/>
            <a:ext cx="502921" cy="434340"/>
          </a:xfrm>
          <a:prstGeom prst="line">
            <a:avLst/>
          </a:prstGeom>
          <a:ln w="12700">
            <a:solidFill>
              <a:srgbClr val="216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Oval 70"/>
          <p:cNvSpPr/>
          <p:nvPr/>
        </p:nvSpPr>
        <p:spPr>
          <a:xfrm>
            <a:off x="4754880" y="4480560"/>
            <a:ext cx="1005840" cy="320040"/>
          </a:xfrm>
          <a:prstGeom prst="ellipse">
            <a:avLst/>
          </a:prstGeom>
          <a:solidFill>
            <a:srgbClr val="26A6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0">
                <a:solidFill>
                  <a:srgbClr val="FFFFFF"/>
                </a:solidFill>
              </a:rPr>
              <a:t>JobID (FK)</a:t>
            </a:r>
          </a:p>
        </p:txBody>
      </p:sp>
      <p:cxnSp>
        <p:nvCxnSpPr>
          <p:cNvPr id="72" name="Connector 71"/>
          <p:cNvCxnSpPr/>
          <p:nvPr/>
        </p:nvCxnSpPr>
        <p:spPr>
          <a:xfrm flipH="1" flipV="1">
            <a:off x="4480560" y="4206240"/>
            <a:ext cx="777240" cy="434340"/>
          </a:xfrm>
          <a:prstGeom prst="line">
            <a:avLst/>
          </a:prstGeom>
          <a:ln w="12700">
            <a:solidFill>
              <a:srgbClr val="216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2103120" y="1691640"/>
            <a:ext cx="1005840" cy="1234439"/>
          </a:xfrm>
          <a:prstGeom prst="line">
            <a:avLst/>
          </a:prstGeom>
          <a:ln w="19050">
            <a:solidFill>
              <a:srgbClr val="216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Connector 73"/>
          <p:cNvCxnSpPr/>
          <p:nvPr/>
        </p:nvCxnSpPr>
        <p:spPr>
          <a:xfrm>
            <a:off x="3108960" y="2926079"/>
            <a:ext cx="1371600" cy="914401"/>
          </a:xfrm>
          <a:prstGeom prst="line">
            <a:avLst/>
          </a:prstGeom>
          <a:ln w="19050">
            <a:solidFill>
              <a:srgbClr val="216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 flipH="1">
            <a:off x="6035040" y="1691640"/>
            <a:ext cx="1005840" cy="1234439"/>
          </a:xfrm>
          <a:prstGeom prst="line">
            <a:avLst/>
          </a:prstGeom>
          <a:ln w="19050">
            <a:solidFill>
              <a:srgbClr val="216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H="1">
            <a:off x="4480560" y="2926079"/>
            <a:ext cx="1554480" cy="914401"/>
          </a:xfrm>
          <a:prstGeom prst="line">
            <a:avLst/>
          </a:prstGeom>
          <a:ln w="19050">
            <a:solidFill>
              <a:srgbClr val="216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2148839" y="1554480"/>
            <a:ext cx="228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383279" y="352044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0000"/>
                </a:solidFill>
              </a:rPr>
              <a:t>1..*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675120" y="1554480"/>
            <a:ext cx="274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532120" y="352044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FF0000"/>
                </a:solidFill>
              </a:rPr>
              <a:t>1..*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315200" y="5486400"/>
            <a:ext cx="1645920" cy="1097280"/>
          </a:xfrm>
          <a:prstGeom prst="rect">
            <a:avLst/>
          </a:prstGeom>
          <a:solidFill>
            <a:srgbClr val="F8F8F8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800" b="1">
                <a:solidFill>
                  <a:srgbClr val="F5A623"/>
                </a:solidFill>
              </a:rPr>
              <a:t>■ Orange = Entity</a:t>
            </a:r>
          </a:p>
          <a:p>
            <a:pPr algn="l"/>
            <a:r>
              <a:rPr sz="800" b="1">
                <a:solidFill>
                  <a:srgbClr val="4DB6AC"/>
                </a:solidFill>
              </a:rPr>
              <a:t>● Teal = Attribute</a:t>
            </a:r>
          </a:p>
          <a:p>
            <a:pPr algn="l"/>
            <a:r>
              <a:rPr sz="800" b="1">
                <a:solidFill>
                  <a:srgbClr val="FFD54F"/>
                </a:solidFill>
              </a:rPr>
              <a:t>◆ Gold = Relationship</a:t>
            </a:r>
          </a:p>
          <a:p>
            <a:pPr algn="l"/>
            <a:r>
              <a:rPr sz="800" b="1">
                <a:solidFill>
                  <a:srgbClr val="00796B"/>
                </a:solidFill>
              </a:rPr>
              <a:t>● Dark Teal = PK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E1B4B"/>
                </a:solidFill>
                <a:latin typeface="Calibri"/>
              </a:rPr>
              <a:t>UI Overview — 6 Main Pages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640080"/>
            <a:ext cx="8229600" cy="45720"/>
          </a:xfrm>
          <a:prstGeom prst="rect">
            <a:avLst/>
          </a:prstGeom>
          <a:solidFill>
            <a:srgbClr val="4F46E5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2606040" cy="256032"/>
          </a:xfrm>
          <a:prstGeom prst="rect">
            <a:avLst/>
          </a:prstGeom>
          <a:solidFill>
            <a:srgbClr val="DDDDDD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1060704"/>
            <a:ext cx="128016" cy="128016"/>
          </a:xfrm>
          <a:prstGeom prst="rect">
            <a:avLst/>
          </a:prstGeom>
          <a:solidFill>
            <a:srgbClr val="DC262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060704"/>
            <a:ext cx="128016" cy="128016"/>
          </a:xfrm>
          <a:prstGeom prst="rect">
            <a:avLst/>
          </a:prstGeom>
          <a:solidFill>
            <a:srgbClr val="D9770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1248" y="1060704"/>
            <a:ext cx="128016" cy="128016"/>
          </a:xfrm>
          <a:prstGeom prst="rect">
            <a:avLst/>
          </a:prstGeom>
          <a:solidFill>
            <a:srgbClr val="06955C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261872"/>
            <a:ext cx="2606040" cy="1481328"/>
          </a:xfrm>
          <a:prstGeom prst="rect">
            <a:avLst/>
          </a:prstGeom>
          <a:solidFill>
            <a:srgbClr val="4F46E5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325880"/>
            <a:ext cx="2606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Dashboard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810512"/>
            <a:ext cx="2606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EE"/>
                </a:solidFill>
                <a:latin typeface="Calibri"/>
              </a:rPr>
              <a:t>Score history
&amp; quick stats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6120" y="1005840"/>
            <a:ext cx="2606040" cy="256032"/>
          </a:xfrm>
          <a:prstGeom prst="rect">
            <a:avLst/>
          </a:prstGeom>
          <a:solidFill>
            <a:srgbClr val="DDDDDD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19272" y="1060704"/>
            <a:ext cx="128016" cy="128016"/>
          </a:xfrm>
          <a:prstGeom prst="rect">
            <a:avLst/>
          </a:prstGeom>
          <a:solidFill>
            <a:srgbClr val="DC262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20440" y="1060704"/>
            <a:ext cx="128016" cy="128016"/>
          </a:xfrm>
          <a:prstGeom prst="rect">
            <a:avLst/>
          </a:prstGeom>
          <a:solidFill>
            <a:srgbClr val="D9770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721608" y="1060704"/>
            <a:ext cx="128016" cy="128016"/>
          </a:xfrm>
          <a:prstGeom prst="rect">
            <a:avLst/>
          </a:prstGeom>
          <a:solidFill>
            <a:srgbClr val="06955C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46120" y="1261872"/>
            <a:ext cx="2606040" cy="1481328"/>
          </a:xfrm>
          <a:prstGeom prst="rect">
            <a:avLst/>
          </a:prstGeom>
          <a:solidFill>
            <a:srgbClr val="066CC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325880"/>
            <a:ext cx="2606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Job Openings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6120" y="1810512"/>
            <a:ext cx="2606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EE"/>
                </a:solidFill>
                <a:latin typeface="Calibri"/>
              </a:rPr>
              <a:t>Create &amp; manage
job postings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26480" y="1005840"/>
            <a:ext cx="2606040" cy="256032"/>
          </a:xfrm>
          <a:prstGeom prst="rect">
            <a:avLst/>
          </a:prstGeom>
          <a:solidFill>
            <a:srgbClr val="DDDDDD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9632" y="1060704"/>
            <a:ext cx="128016" cy="128016"/>
          </a:xfrm>
          <a:prstGeom prst="rect">
            <a:avLst/>
          </a:prstGeom>
          <a:solidFill>
            <a:srgbClr val="DC262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0" y="1060704"/>
            <a:ext cx="128016" cy="128016"/>
          </a:xfrm>
          <a:prstGeom prst="rect">
            <a:avLst/>
          </a:prstGeom>
          <a:solidFill>
            <a:srgbClr val="D9770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01968" y="1060704"/>
            <a:ext cx="128016" cy="128016"/>
          </a:xfrm>
          <a:prstGeom prst="rect">
            <a:avLst/>
          </a:prstGeom>
          <a:solidFill>
            <a:srgbClr val="06955C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1261872"/>
            <a:ext cx="2606040" cy="1481328"/>
          </a:xfrm>
          <a:prstGeom prst="rect">
            <a:avLst/>
          </a:prstGeom>
          <a:solidFill>
            <a:srgbClr val="06955C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0" y="1325880"/>
            <a:ext cx="2606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Screen Resumes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1810512"/>
            <a:ext cx="2606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EE"/>
                </a:solidFill>
                <a:latin typeface="Calibri"/>
              </a:rPr>
              <a:t>Upload &amp; score
individual resumes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971800"/>
            <a:ext cx="2606040" cy="256032"/>
          </a:xfrm>
          <a:prstGeom prst="rect">
            <a:avLst/>
          </a:prstGeom>
          <a:solidFill>
            <a:srgbClr val="DDDDDD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912" y="3026664"/>
            <a:ext cx="128016" cy="128016"/>
          </a:xfrm>
          <a:prstGeom prst="rect">
            <a:avLst/>
          </a:prstGeom>
          <a:solidFill>
            <a:srgbClr val="DC262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3026664"/>
            <a:ext cx="128016" cy="128016"/>
          </a:xfrm>
          <a:prstGeom prst="rect">
            <a:avLst/>
          </a:prstGeom>
          <a:solidFill>
            <a:srgbClr val="D9770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41248" y="3026664"/>
            <a:ext cx="128016" cy="128016"/>
          </a:xfrm>
          <a:prstGeom prst="rect">
            <a:avLst/>
          </a:prstGeom>
          <a:solidFill>
            <a:srgbClr val="06955C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65760" y="3227832"/>
            <a:ext cx="2606040" cy="1481328"/>
          </a:xfrm>
          <a:prstGeom prst="rect">
            <a:avLst/>
          </a:prstGeom>
          <a:solidFill>
            <a:srgbClr val="0F766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3291840"/>
            <a:ext cx="2606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Batch Screening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3776472"/>
            <a:ext cx="2606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EE"/>
                </a:solidFill>
                <a:latin typeface="Calibri"/>
              </a:rPr>
              <a:t>Process up to
20 files at once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46120" y="2971800"/>
            <a:ext cx="2606040" cy="256032"/>
          </a:xfrm>
          <a:prstGeom prst="rect">
            <a:avLst/>
          </a:prstGeom>
          <a:solidFill>
            <a:srgbClr val="DDDDDD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319272" y="3026664"/>
            <a:ext cx="128016" cy="128016"/>
          </a:xfrm>
          <a:prstGeom prst="rect">
            <a:avLst/>
          </a:prstGeom>
          <a:solidFill>
            <a:srgbClr val="DC262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520440" y="3026664"/>
            <a:ext cx="128016" cy="128016"/>
          </a:xfrm>
          <a:prstGeom prst="rect">
            <a:avLst/>
          </a:prstGeom>
          <a:solidFill>
            <a:srgbClr val="D9770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721608" y="3026664"/>
            <a:ext cx="128016" cy="128016"/>
          </a:xfrm>
          <a:prstGeom prst="rect">
            <a:avLst/>
          </a:prstGeom>
          <a:solidFill>
            <a:srgbClr val="06955C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46120" y="3227832"/>
            <a:ext cx="2606040" cy="1481328"/>
          </a:xfrm>
          <a:prstGeom prst="rect">
            <a:avLst/>
          </a:prstGeom>
          <a:solidFill>
            <a:srgbClr val="7C3AED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46120" y="3291840"/>
            <a:ext cx="2606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Career DNA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46120" y="3776472"/>
            <a:ext cx="2606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EE"/>
                </a:solidFill>
                <a:latin typeface="Calibri"/>
              </a:rPr>
              <a:t>Radar chart
archetype view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26480" y="2971800"/>
            <a:ext cx="2606040" cy="256032"/>
          </a:xfrm>
          <a:prstGeom prst="rect">
            <a:avLst/>
          </a:prstGeom>
          <a:solidFill>
            <a:srgbClr val="DDDDDD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99632" y="3026664"/>
            <a:ext cx="128016" cy="128016"/>
          </a:xfrm>
          <a:prstGeom prst="rect">
            <a:avLst/>
          </a:prstGeom>
          <a:solidFill>
            <a:srgbClr val="DC262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400800" y="3026664"/>
            <a:ext cx="128016" cy="128016"/>
          </a:xfrm>
          <a:prstGeom prst="rect">
            <a:avLst/>
          </a:prstGeom>
          <a:solidFill>
            <a:srgbClr val="D97706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601968" y="3026664"/>
            <a:ext cx="128016" cy="128016"/>
          </a:xfrm>
          <a:prstGeom prst="rect">
            <a:avLst/>
          </a:prstGeom>
          <a:solidFill>
            <a:srgbClr val="06955C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26480" y="3227832"/>
            <a:ext cx="2606040" cy="1481328"/>
          </a:xfrm>
          <a:prstGeom prst="rect">
            <a:avLst/>
          </a:prstGeom>
          <a:solidFill>
            <a:srgbClr val="E65100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26480" y="3291840"/>
            <a:ext cx="2606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AI Resume Coach ★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26480" y="3776472"/>
            <a:ext cx="26060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EE"/>
                </a:solidFill>
                <a:latin typeface="Calibri"/>
              </a:rPr>
              <a:t>Conversational AI
coaching chatbot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37960"/>
            <a:ext cx="9144000" cy="320040"/>
          </a:xfrm>
          <a:prstGeom prst="rect">
            <a:avLst/>
          </a:prstGeom>
          <a:solidFill>
            <a:srgbClr val="1E1B4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37160" y="6556248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7D2FE"/>
                </a:solidFill>
                <a:latin typeface="Calibri"/>
              </a:rPr>
              <a:t>KIT AI Resume Screener  |  AI-Powered Recruitment Platform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46720" y="65562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11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E1B4B"/>
                </a:solidFill>
                <a:latin typeface="Calibri"/>
              </a:rPr>
              <a:t>Results &amp;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640080"/>
            <a:ext cx="8229600" cy="45720"/>
          </a:xfrm>
          <a:prstGeom prst="rect">
            <a:avLst/>
          </a:prstGeom>
          <a:solidFill>
            <a:srgbClr val="4F46E5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1B4B"/>
                </a:solidFill>
                <a:latin typeface="Calibri"/>
              </a:rPr>
              <a:t>Score Breakdown Example (Sample Candidate):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1B4B"/>
                </a:solidFill>
                <a:latin typeface="Calibri"/>
              </a:rPr>
              <a:t>Skills Match</a:t>
            </a:r>
          </a:p>
        </p:txBody>
      </p:sp>
      <p:sp>
        <p:nvSpPr>
          <p:cNvPr id="7" name="Rectangle 6"/>
          <p:cNvSpPr/>
          <p:nvPr/>
        </p:nvSpPr>
        <p:spPr>
          <a:xfrm>
            <a:off x="2423160" y="1417320"/>
            <a:ext cx="5029200" cy="310896"/>
          </a:xfrm>
          <a:prstGeom prst="rect">
            <a:avLst/>
          </a:prstGeom>
          <a:solidFill>
            <a:srgbClr val="F8F8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423160" y="1417320"/>
            <a:ext cx="4425696" cy="310896"/>
          </a:xfrm>
          <a:prstGeom prst="rect">
            <a:avLst/>
          </a:prstGeom>
          <a:solidFill>
            <a:srgbClr val="4F46E5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0296" y="1426464"/>
            <a:ext cx="502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F46E5"/>
                </a:solidFill>
                <a:latin typeface="Calibri"/>
              </a:rPr>
              <a:t>88%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38528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1B4B"/>
                </a:solidFill>
                <a:latin typeface="Calibri"/>
              </a:rPr>
              <a:t>Semantic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23160" y="1984248"/>
            <a:ext cx="5029200" cy="310896"/>
          </a:xfrm>
          <a:prstGeom prst="rect">
            <a:avLst/>
          </a:prstGeom>
          <a:solidFill>
            <a:srgbClr val="F8F8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423160" y="1984248"/>
            <a:ext cx="3621024" cy="310896"/>
          </a:xfrm>
          <a:prstGeom prst="rect">
            <a:avLst/>
          </a:prstGeom>
          <a:solidFill>
            <a:srgbClr val="7C3AED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35623" y="1993392"/>
            <a:ext cx="502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Calibri"/>
              </a:rPr>
              <a:t>72%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505456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1B4B"/>
                </a:solidFill>
                <a:latin typeface="Calibri"/>
              </a:rPr>
              <a:t>Experience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23160" y="2551176"/>
            <a:ext cx="5029200" cy="310896"/>
          </a:xfrm>
          <a:prstGeom prst="rect">
            <a:avLst/>
          </a:prstGeom>
          <a:solidFill>
            <a:srgbClr val="F8F8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423160" y="2551176"/>
            <a:ext cx="3268980" cy="310896"/>
          </a:xfrm>
          <a:prstGeom prst="rect">
            <a:avLst/>
          </a:prstGeom>
          <a:solidFill>
            <a:srgbClr val="06955C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83579" y="2560320"/>
            <a:ext cx="502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6955C"/>
                </a:solidFill>
                <a:latin typeface="Calibri"/>
              </a:rPr>
              <a:t>65%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072384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1B4B"/>
                </a:solidFill>
                <a:latin typeface="Calibri"/>
              </a:rPr>
              <a:t>Education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23160" y="3118103"/>
            <a:ext cx="5029200" cy="310896"/>
          </a:xfrm>
          <a:prstGeom prst="rect">
            <a:avLst/>
          </a:prstGeom>
          <a:solidFill>
            <a:srgbClr val="F8F8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423160" y="3118103"/>
            <a:ext cx="4526280" cy="310896"/>
          </a:xfrm>
          <a:prstGeom prst="rect">
            <a:avLst/>
          </a:prstGeom>
          <a:solidFill>
            <a:srgbClr val="0F766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79" y="3127248"/>
            <a:ext cx="502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766E"/>
                </a:solidFill>
                <a:latin typeface="Calibri"/>
              </a:rPr>
              <a:t>90%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749039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E1B4B"/>
                </a:solidFill>
                <a:latin typeface="Calibri"/>
              </a:rPr>
              <a:t>Career DNA Archetype Scores: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187952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1B4B"/>
                </a:solidFill>
                <a:latin typeface="Calibri"/>
              </a:rPr>
              <a:t>Backend Architect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06040" y="4233672"/>
            <a:ext cx="4572000" cy="310896"/>
          </a:xfrm>
          <a:prstGeom prst="rect">
            <a:avLst/>
          </a:prstGeom>
          <a:solidFill>
            <a:srgbClr val="F8F8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606040" y="4233672"/>
            <a:ext cx="3886200" cy="310896"/>
          </a:xfrm>
          <a:prstGeom prst="rect">
            <a:avLst/>
          </a:prstGeom>
          <a:solidFill>
            <a:srgbClr val="4F46E5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79" y="4242816"/>
            <a:ext cx="502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F46E5"/>
                </a:solidFill>
                <a:latin typeface="Calibri"/>
              </a:rPr>
              <a:t>85%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4718304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1B4B"/>
                </a:solidFill>
                <a:latin typeface="Calibri"/>
              </a:rPr>
              <a:t>Data &amp; ML Engineer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606040" y="4764024"/>
            <a:ext cx="4572000" cy="310896"/>
          </a:xfrm>
          <a:prstGeom prst="rect">
            <a:avLst/>
          </a:prstGeom>
          <a:solidFill>
            <a:srgbClr val="F8F8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606040" y="4764024"/>
            <a:ext cx="2743200" cy="310896"/>
          </a:xfrm>
          <a:prstGeom prst="rect">
            <a:avLst/>
          </a:prstGeom>
          <a:solidFill>
            <a:srgbClr val="7C3AED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40679" y="4773168"/>
            <a:ext cx="502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Calibri"/>
              </a:rPr>
              <a:t>60%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5248656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E1B4B"/>
                </a:solidFill>
                <a:latin typeface="Calibri"/>
              </a:rPr>
              <a:t>Cloud &amp; DevOps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06040" y="5294376"/>
            <a:ext cx="4572000" cy="310896"/>
          </a:xfrm>
          <a:prstGeom prst="rect">
            <a:avLst/>
          </a:prstGeom>
          <a:solidFill>
            <a:srgbClr val="F8F8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606040" y="5294376"/>
            <a:ext cx="2057400" cy="310896"/>
          </a:xfrm>
          <a:prstGeom prst="rect">
            <a:avLst/>
          </a:prstGeom>
          <a:solidFill>
            <a:srgbClr val="0F766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54879" y="5303520"/>
            <a:ext cx="502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F766E"/>
                </a:solidFill>
                <a:latin typeface="Calibri"/>
              </a:rPr>
              <a:t>45%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5852160"/>
            <a:ext cx="8412480" cy="457200"/>
          </a:xfrm>
          <a:prstGeom prst="rect">
            <a:avLst/>
          </a:prstGeom>
          <a:solidFill>
            <a:srgbClr val="FFF3E0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E65100"/>
                </a:solidFill>
                <a:latin typeface="Calibri"/>
              </a:rPr>
              <a:t>AI Resume Coach: Live multi-turn conversation demo — ask follow-up questions, get instant coaching feedback.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37960"/>
            <a:ext cx="9144000" cy="320040"/>
          </a:xfrm>
          <a:prstGeom prst="rect">
            <a:avLst/>
          </a:prstGeom>
          <a:solidFill>
            <a:srgbClr val="1E1B4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7160" y="6556248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7D2FE"/>
                </a:solidFill>
                <a:latin typeface="Calibri"/>
              </a:rPr>
              <a:t>KIT AI Resume Screener  |  AI-Powered Recruitment Platform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20" y="65562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FFFFF"/>
                </a:solidFill>
                <a:latin typeface="Calibri"/>
              </a:rPr>
              <a:t>12 /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64592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E1B4B"/>
                </a:solidFill>
                <a:latin typeface="Calibri"/>
              </a:rPr>
              <a:t>Conclusion &amp; 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640080"/>
            <a:ext cx="8229600" cy="45720"/>
          </a:xfrm>
          <a:prstGeom prst="rect">
            <a:avLst/>
          </a:prstGeom>
          <a:solidFill>
            <a:srgbClr val="4F46E5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896112"/>
            <a:ext cx="4023360" cy="411480"/>
          </a:xfrm>
          <a:prstGeom prst="rect">
            <a:avLst/>
          </a:prstGeom>
          <a:solidFill>
            <a:srgbClr val="4F46E5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What Was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307592"/>
            <a:ext cx="4023360" cy="457200"/>
          </a:xfrm>
          <a:prstGeom prst="rect">
            <a:avLst/>
          </a:prstGeom>
          <a:solidFill>
            <a:srgbClr val="F8F8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 i="0">
                <a:solidFill>
                  <a:srgbClr val="1E1B4B"/>
                </a:solidFill>
                <a:latin typeface="Calibri"/>
              </a:rPr>
              <a:t>✓  AI-powered single &amp; batch resume screening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837943"/>
            <a:ext cx="40233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 i="0">
                <a:solidFill>
                  <a:srgbClr val="1E1B4B"/>
                </a:solidFill>
                <a:latin typeface="Calibri"/>
              </a:rPr>
              <a:t>✓  Career DNA fingerprinting (8 archetypes)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2368296"/>
            <a:ext cx="4023360" cy="457200"/>
          </a:xfrm>
          <a:prstGeom prst="rect">
            <a:avLst/>
          </a:prstGeom>
          <a:solidFill>
            <a:srgbClr val="F8F8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 i="0">
                <a:solidFill>
                  <a:srgbClr val="1E1B4B"/>
                </a:solidFill>
                <a:latin typeface="Calibri"/>
              </a:rPr>
              <a:t>✓  Candidate comparison (2–5 candidates)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898648"/>
            <a:ext cx="40233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 i="0">
                <a:solidFill>
                  <a:srgbClr val="1E1B4B"/>
                </a:solidFill>
                <a:latin typeface="Calibri"/>
              </a:rPr>
              <a:t>✓  AI Resume Coach — conversational chatbot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3429000"/>
            <a:ext cx="4023360" cy="457200"/>
          </a:xfrm>
          <a:prstGeom prst="rect">
            <a:avLst/>
          </a:prstGeom>
          <a:solidFill>
            <a:srgbClr val="F8F8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 i="0">
                <a:solidFill>
                  <a:srgbClr val="1E1B4B"/>
                </a:solidFill>
                <a:latin typeface="Calibri"/>
              </a:rPr>
              <a:t>✓  Analytics dashboard with Chart.js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3959352"/>
            <a:ext cx="40233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 i="0">
                <a:solidFill>
                  <a:srgbClr val="1E1B4B"/>
                </a:solidFill>
                <a:latin typeface="Calibri"/>
              </a:rPr>
              <a:t>✓  REST API with Spring Boot + Gemini AI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4489703"/>
            <a:ext cx="4023360" cy="457200"/>
          </a:xfrm>
          <a:prstGeom prst="rect">
            <a:avLst/>
          </a:prstGeom>
          <a:solidFill>
            <a:srgbClr val="F8F8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 i="0">
                <a:solidFill>
                  <a:srgbClr val="1E1B4B"/>
                </a:solidFill>
                <a:latin typeface="Calibri"/>
              </a:rPr>
              <a:t>✓  Docker-ready deployment on Railway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0" y="896112"/>
            <a:ext cx="4023360" cy="411480"/>
          </a:xfrm>
          <a:prstGeom prst="rect">
            <a:avLst/>
          </a:prstGeom>
          <a:solidFill>
            <a:srgbClr val="7C3AED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Future Work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0" y="1307592"/>
            <a:ext cx="4023360" cy="457200"/>
          </a:xfrm>
          <a:prstGeom prst="rect">
            <a:avLst/>
          </a:prstGeom>
          <a:solidFill>
            <a:srgbClr val="F8F8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 i="0">
                <a:solidFill>
                  <a:srgbClr val="1E1B4B"/>
                </a:solidFill>
                <a:latin typeface="Calibri"/>
              </a:rPr>
              <a:t>→  Email notifications for results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0" y="1837943"/>
            <a:ext cx="40233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 i="0">
                <a:solidFill>
                  <a:srgbClr val="1E1B4B"/>
                </a:solidFill>
                <a:latin typeface="Calibri"/>
              </a:rPr>
              <a:t>→  JWT-based authentication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54880" y="2368296"/>
            <a:ext cx="4023360" cy="457200"/>
          </a:xfrm>
          <a:prstGeom prst="rect">
            <a:avLst/>
          </a:prstGeom>
          <a:solidFill>
            <a:srgbClr val="F8F8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 i="0">
                <a:solidFill>
                  <a:srgbClr val="1E1B4B"/>
                </a:solidFill>
                <a:latin typeface="Calibri"/>
              </a:rPr>
              <a:t>→  Mobile app (React Native)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0" y="2898648"/>
            <a:ext cx="40233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 i="0">
                <a:solidFill>
                  <a:srgbClr val="1E1B4B"/>
                </a:solidFill>
                <a:latin typeface="Calibri"/>
              </a:rPr>
              <a:t>→  Voice-enabled AI coach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54880" y="3429000"/>
            <a:ext cx="4023360" cy="457200"/>
          </a:xfrm>
          <a:prstGeom prst="rect">
            <a:avLst/>
          </a:prstGeom>
          <a:solidFill>
            <a:srgbClr val="F8F8F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 i="0">
                <a:solidFill>
                  <a:srgbClr val="1E1B4B"/>
                </a:solidFill>
                <a:latin typeface="Calibri"/>
              </a:rPr>
              <a:t>→  LinkedIn profile integration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4880" y="3959352"/>
            <a:ext cx="402336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 i="0">
                <a:solidFill>
                  <a:srgbClr val="1E1B4B"/>
                </a:solidFill>
                <a:latin typeface="Calibri"/>
              </a:rPr>
              <a:t>→  Automated interview scheduling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5989320"/>
            <a:ext cx="9144000" cy="548640"/>
          </a:xfrm>
          <a:prstGeom prst="rect">
            <a:avLst/>
          </a:prstGeom>
          <a:solidFill>
            <a:srgbClr val="1E1B4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0" y="603504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Thank You  ·  Questions Welcome  ·  KIT AI Resume Screener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605332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C7D2FE"/>
                </a:solidFill>
                <a:latin typeface="Calibri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