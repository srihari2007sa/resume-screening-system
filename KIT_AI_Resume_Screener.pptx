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9" r:id="rId20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KIT AI Resume Screener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7D2FE"/>
                </a:solidFill>
                <a:latin typeface="Calibri"/>
              </a:rPr>
              <a:t>AI-Powered Resume Screening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B300"/>
                </a:solidFill>
                <a:latin typeface="Calibri"/>
              </a:rPr>
              <a:t>with AI Resume 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5B4FC"/>
                </a:solidFill>
                <a:latin typeface="Calibri"/>
              </a:rPr>
              <a:t>Presented by: SRI HARI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79" y="3657600"/>
            <a:ext cx="1234440" cy="347472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Java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1897379" y="3657600"/>
            <a:ext cx="1234440" cy="347472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Spring Boot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8979" y="3657600"/>
            <a:ext cx="1234440" cy="347472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Gemini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40579" y="3657600"/>
            <a:ext cx="1234440" cy="347472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Vanilla 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12179" y="3657600"/>
            <a:ext cx="1234440" cy="347472"/>
          </a:xfrm>
          <a:prstGeom prst="rect">
            <a:avLst/>
          </a:prstGeom>
          <a:solidFill>
            <a:srgbClr val="0097A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MySQL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83779" y="3657600"/>
            <a:ext cx="1234440" cy="347472"/>
          </a:xfrm>
          <a:prstGeom prst="rect">
            <a:avLst/>
          </a:prstGeom>
          <a:solidFill>
            <a:srgbClr val="E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Apache Tika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0F0C2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7D2FE"/>
                </a:solidFill>
                <a:latin typeface="Calibri"/>
              </a:rPr>
              <a:t>KIT AI Resume Screener  |  AI-Powered Recruitment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6556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B4B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40080"/>
            <a:ext cx="8229600" cy="45720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777240"/>
            <a:ext cx="2377440" cy="1005840"/>
          </a:xfrm>
          <a:prstGeom prst="rect">
            <a:avLst/>
          </a:prstGeom>
          <a:solidFill>
            <a:srgbClr val="E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229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23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per resume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777240"/>
            <a:ext cx="2377440" cy="1005840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8229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280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qualified candidates rejected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777240"/>
            <a:ext cx="2377440" cy="1005840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8229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250+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280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applications per job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011680"/>
            <a:ext cx="832104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  ●  Manual screening is time-consuming and biased.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606040"/>
            <a:ext cx="832104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  ●  Keyword mismatch causes good candidates to be rejected.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200400"/>
            <a:ext cx="832104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  ●  No real-time AI coaching or feedback for candidates.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794760"/>
            <a:ext cx="832104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  ●  Recruiters lack data-driven insights.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E1B4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7D2FE"/>
                </a:solidFill>
                <a:latin typeface="Calibri"/>
              </a:rPr>
              <a:t>KIT AI Resume Screener  |  AI-Powered Recruitment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6556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B4B"/>
                </a:solidFill>
                <a:latin typeface="Calibri"/>
              </a:rPr>
              <a:t>Solution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40080"/>
            <a:ext cx="8229600" cy="45720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2560320" cy="1325880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612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184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AI Screening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051560"/>
            <a:ext cx="2560320" cy="1325880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1612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6184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Career DNA Profiling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051560"/>
            <a:ext cx="2560320" cy="1325880"/>
          </a:xfrm>
          <a:prstGeom prst="rect">
            <a:avLst/>
          </a:prstGeom>
          <a:solidFill>
            <a:srgbClr val="066CC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1612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6184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Batch Processing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06039"/>
            <a:ext cx="2560320" cy="1325880"/>
          </a:xfrm>
          <a:prstGeom prst="rect">
            <a:avLst/>
          </a:prstGeom>
          <a:solidFill>
            <a:srgbClr val="E651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7157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1729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AI Resume Coach 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2606039"/>
            <a:ext cx="2560320" cy="1325880"/>
          </a:xfrm>
          <a:prstGeom prst="rect">
            <a:avLst/>
          </a:prstGeom>
          <a:solidFill>
            <a:srgbClr val="0695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27157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1729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Analytics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2606039"/>
            <a:ext cx="2560320" cy="1325880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27157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1729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Candidate Comparison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E1B4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7D2FE"/>
                </a:solidFill>
                <a:latin typeface="Calibri"/>
              </a:rPr>
              <a:t>KIT AI Resume Screener  |  AI-Powered Recruitment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6556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B4B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40080"/>
            <a:ext cx="8229600" cy="45720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645920" cy="914400"/>
          </a:xfrm>
          <a:prstGeom prst="rect">
            <a:avLst/>
          </a:prstGeom>
          <a:solidFill>
            <a:srgbClr val="066CC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Browser SPA
(Vanilla JS)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153619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280160"/>
            <a:ext cx="1645920" cy="914400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Spring Boot
REST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79392" y="153619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280160"/>
            <a:ext cx="1645920" cy="914400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Gemini AI /
Offline NLP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53619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59" y="1280160"/>
            <a:ext cx="1645920" cy="914400"/>
          </a:xfrm>
          <a:prstGeom prst="rect">
            <a:avLst/>
          </a:prstGeom>
          <a:solidFill>
            <a:srgbClr val="0695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MySQL
Database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06040"/>
            <a:ext cx="8321040" cy="36576"/>
          </a:xfrm>
          <a:prstGeom prst="rect">
            <a:avLst/>
          </a:prstGeom>
          <a:solidFill>
            <a:srgbClr val="E0E0E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B4B"/>
                </a:solidFill>
                <a:latin typeface="Calibri"/>
              </a:rPr>
              <a:t>AI Resume Coach Integration: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246120"/>
            <a:ext cx="1828800" cy="822960"/>
          </a:xfrm>
          <a:prstGeom prst="rect">
            <a:avLst/>
          </a:prstGeom>
          <a:solidFill>
            <a:srgbClr val="E651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AI Resume Coach
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3832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65100"/>
                </a:solidFill>
                <a:latin typeface="Calibri"/>
              </a:rPr>
              <a:t>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3246120"/>
            <a:ext cx="1828800" cy="822960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Spring Boot
Coach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3832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65100"/>
                </a:solidFill>
                <a:latin typeface="Calibri"/>
              </a:rPr>
              <a:t>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1828800" cy="822960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Gemini API
(Multi-turn)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43400"/>
            <a:ext cx="8321040" cy="41148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E65100"/>
                </a:solidFill>
                <a:latin typeface="Calibri"/>
              </a:rPr>
              <a:t>POST /api/coach/chat  •  Session-scoped context  •  Gemini 2.0 Flash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83480"/>
            <a:ext cx="196596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1E1B4B"/>
                </a:solidFill>
                <a:latin typeface="Calibri"/>
              </a:rPr>
              <a:t>Stateless REST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4983480"/>
            <a:ext cx="196596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1E1B4B"/>
                </a:solidFill>
                <a:latin typeface="Calibri"/>
              </a:rPr>
              <a:t>JPA + Hibernate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4983480"/>
            <a:ext cx="196596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1E1B4B"/>
                </a:solidFill>
                <a:latin typeface="Calibri"/>
              </a:rPr>
              <a:t>PDF/DOC parsing via Tika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79" y="4983480"/>
            <a:ext cx="196596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1E1B4B"/>
                </a:solidFill>
                <a:latin typeface="Calibri"/>
              </a:rPr>
              <a:t>Secure API key via env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E1B4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7D2FE"/>
                </a:solidFill>
                <a:latin typeface="Calibri"/>
              </a:rPr>
              <a:t>KIT AI Resume Screener  |  AI-Powered Recruitment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6556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B4B"/>
                </a:solidFill>
                <a:latin typeface="Calibri"/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40080"/>
            <a:ext cx="8229600" cy="45720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05840"/>
            <a:ext cx="2560320" cy="1463040"/>
          </a:xfrm>
          <a:prstGeom prst="rect">
            <a:avLst/>
          </a:prstGeom>
          <a:solidFill>
            <a:srgbClr val="066CC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Single Resume
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EE"/>
                </a:solidFill>
                <a:latin typeface="Calibri"/>
              </a:rPr>
              <a:t>Upload &amp; instantly score one resume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27832" y="1005840"/>
            <a:ext cx="2560320" cy="1463040"/>
          </a:xfrm>
          <a:prstGeom prst="rect">
            <a:avLst/>
          </a:prstGeom>
          <a:solidFill>
            <a:srgbClr val="0695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9272" y="1097280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Batch Screening
(20 files)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1783080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EE"/>
                </a:solidFill>
                <a:latin typeface="Calibri"/>
              </a:rPr>
              <a:t>Process up to 20 PDFs/DOCs at once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44184" y="1005840"/>
            <a:ext cx="2560320" cy="1463040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35624" y="1097280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AI Evaluation
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5624" y="1783080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EE"/>
                </a:solidFill>
                <a:latin typeface="Calibri"/>
              </a:rPr>
              <a:t>Strengths, gaps &amp; detailed reasoning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97480"/>
            <a:ext cx="2560320" cy="1463040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88920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Career DNA
Fingerprint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74720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EE"/>
                </a:solidFill>
                <a:latin typeface="Calibri"/>
              </a:rPr>
              <a:t>8-archetype professional profiling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27832" y="2697480"/>
            <a:ext cx="2560320" cy="1463040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9272" y="2788920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Candidate
Comparison (2–5)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3474720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EE"/>
                </a:solidFill>
                <a:latin typeface="Calibri"/>
              </a:rPr>
              <a:t>Side-by-side multi-candidate ranking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44184" y="2697480"/>
            <a:ext cx="2560320" cy="1463040"/>
          </a:xfrm>
          <a:prstGeom prst="rect">
            <a:avLst/>
          </a:prstGeom>
          <a:solidFill>
            <a:srgbClr val="E651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5624" y="2788920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AI Resume Coach ★
(NEW)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5624" y="3474720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EE"/>
                </a:solidFill>
                <a:latin typeface="Calibri"/>
              </a:rPr>
              <a:t>Conversational coaching chatbot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E1B4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7D2FE"/>
                </a:solidFill>
                <a:latin typeface="Calibri"/>
              </a:rPr>
              <a:t>KIT AI Resume Screener  |  AI-Powered Recruitment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6556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B4B"/>
                </a:solidFill>
                <a:latin typeface="Calibri"/>
              </a:rPr>
              <a:t>Career DNA Fingerprint — The Unique Profiler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40080"/>
            <a:ext cx="8229600" cy="45720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05840"/>
            <a:ext cx="1874519" cy="640080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Backend Architect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005840"/>
            <a:ext cx="1874519" cy="640080"/>
          </a:xfrm>
          <a:prstGeom prst="rect">
            <a:avLst/>
          </a:prstGeom>
          <a:solidFill>
            <a:srgbClr val="066CC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Frontend Craftsman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7720" y="1005840"/>
            <a:ext cx="1874519" cy="640080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 &amp; ML Engineer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1005840"/>
            <a:ext cx="1874519" cy="640080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Cloud &amp; DevOps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920240"/>
            <a:ext cx="1874519" cy="640080"/>
          </a:xfrm>
          <a:prstGeom prst="rect">
            <a:avLst/>
          </a:prstGeom>
          <a:solidFill>
            <a:srgbClr val="0695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Database Specialist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920240"/>
            <a:ext cx="1874519" cy="640080"/>
          </a:xfrm>
          <a:prstGeom prst="rect">
            <a:avLst/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Security Engineer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920240"/>
            <a:ext cx="1874519" cy="640080"/>
          </a:xfrm>
          <a:prstGeom prst="rect">
            <a:avLst/>
          </a:prstGeom>
          <a:solidFill>
            <a:srgbClr val="D9770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Technical Leader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1920240"/>
            <a:ext cx="1874519" cy="640080"/>
          </a:xfrm>
          <a:prstGeom prst="rect">
            <a:avLst/>
          </a:prstGeom>
          <a:solidFill>
            <a:srgbClr val="BE185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Mobile Developer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63240"/>
            <a:ext cx="8321040" cy="777240"/>
          </a:xfrm>
          <a:prstGeom prst="rect">
            <a:avLst/>
          </a:prstGeom>
          <a:solidFill>
            <a:srgbClr val="F0F0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Classifies candidates into 8 professional archetypes using weighted keyword taxonomy. Visualised as a radar chart. No other ATS has this feature.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023360"/>
            <a:ext cx="3840480" cy="2103120"/>
          </a:xfrm>
          <a:prstGeom prst="rect">
            <a:avLst/>
          </a:prstGeom>
          <a:solidFill>
            <a:srgbClr val="F8F8F8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7548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◈  Radar Chart Visualisation
(rendered in browser via Chart.js)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0690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● Weighted keyword taxonomy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55371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● 8 unique professional archetypes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03834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● Real-time chart.js radar display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52297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● Candidate comparison ready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E1B4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7D2FE"/>
                </a:solidFill>
                <a:latin typeface="Calibri"/>
              </a:rPr>
              <a:t>KIT AI Resume Screener  |  AI-Powered Recruitment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6556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51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65100"/>
                </a:solidFill>
                <a:latin typeface="Calibri"/>
              </a:rPr>
              <a:t>★  NOVELTY FEATURE — AI Resume Coach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8368"/>
            <a:ext cx="8503920" cy="45720"/>
          </a:xfrm>
          <a:prstGeom prst="rect">
            <a:avLst/>
          </a:prstGeom>
          <a:solidFill>
            <a:srgbClr val="E651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What No Existing ATS Has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64592"/>
            <a:ext cx="1280160" cy="420624"/>
          </a:xfrm>
          <a:prstGeom prst="rect">
            <a:avLst/>
          </a:prstGeom>
          <a:solidFill>
            <a:srgbClr val="E651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★ UNIQUE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8503920" cy="100584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Every other ATS gives a static one-shot report. KIT AI introduces a real-time, multi-turn conversational AI chatbot that is fully grounded in a specific candidate's resume AND the target job description. Recruiters can have a live dialogue to get personalised, actionable coaching advice.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37744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Calibri"/>
              </a:rPr>
              <a:t>Example Coach Questions: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788920"/>
            <a:ext cx="4069080" cy="566928"/>
          </a:xfrm>
          <a:prstGeom prst="rect">
            <a:avLst/>
          </a:prstGeom>
          <a:solidFill>
            <a:srgbClr val="FFF0CC"/>
          </a:solidFill>
          <a:ln w="1524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7B3600"/>
                </a:solidFill>
                <a:latin typeface="Calibri"/>
              </a:rPr>
              <a:t>"How can this candidate improve their resume?"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2788920"/>
            <a:ext cx="4069080" cy="566928"/>
          </a:xfrm>
          <a:prstGeom prst="rect">
            <a:avLst/>
          </a:prstGeom>
          <a:solidFill>
            <a:srgbClr val="FFF0CC"/>
          </a:solidFill>
          <a:ln w="1524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7B3600"/>
                </a:solidFill>
                <a:latin typeface="Calibri"/>
              </a:rPr>
              <a:t>"Write a cover letter for this candidate."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502152"/>
            <a:ext cx="4069080" cy="566928"/>
          </a:xfrm>
          <a:prstGeom prst="rect">
            <a:avLst/>
          </a:prstGeom>
          <a:solidFill>
            <a:srgbClr val="FFF0CC"/>
          </a:solidFill>
          <a:ln w="1524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7B3600"/>
                </a:solidFill>
                <a:latin typeface="Calibri"/>
              </a:rPr>
              <a:t>"What skills should they learn to get shortlisted?"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3502152"/>
            <a:ext cx="4069080" cy="566928"/>
          </a:xfrm>
          <a:prstGeom prst="rect">
            <a:avLst/>
          </a:prstGeom>
          <a:solidFill>
            <a:srgbClr val="FFF0CC"/>
          </a:solidFill>
          <a:ln w="1524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7B3600"/>
                </a:solidFill>
                <a:latin typeface="Calibri"/>
              </a:rPr>
              <a:t>"What salary range should they expect?"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215383"/>
            <a:ext cx="4069080" cy="566928"/>
          </a:xfrm>
          <a:prstGeom prst="rect">
            <a:avLst/>
          </a:prstGeom>
          <a:solidFill>
            <a:srgbClr val="FFF0CC"/>
          </a:solidFill>
          <a:ln w="1524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7B3600"/>
                </a:solidFill>
                <a:latin typeface="Calibri"/>
              </a:rPr>
              <a:t>"Compare skill gaps with job requirements."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4215383"/>
            <a:ext cx="4069080" cy="566928"/>
          </a:xfrm>
          <a:prstGeom prst="rect">
            <a:avLst/>
          </a:prstGeom>
          <a:solidFill>
            <a:srgbClr val="FFF0CC"/>
          </a:solidFill>
          <a:ln w="1524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7B3600"/>
                </a:solidFill>
                <a:latin typeface="Calibri"/>
              </a:rPr>
              <a:t>"What portfolio projects should they add?"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120640"/>
            <a:ext cx="9144000" cy="475488"/>
          </a:xfrm>
          <a:prstGeom prst="rect">
            <a:avLst/>
          </a:prstGeom>
          <a:solidFill>
            <a:srgbClr val="1E1B4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" y="5138928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B300"/>
                </a:solidFill>
                <a:latin typeface="Calibri"/>
              </a:rPr>
              <a:t>Powered by Google Gemini 2.0 Flash  ·  Multi-turn conversation  ·  Context-aware  ·  POST /api/coach/chat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E1B4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7D2FE"/>
                </a:solidFill>
                <a:latin typeface="Calibri"/>
              </a:rPr>
              <a:t>KIT AI Resume Screener  |  AI-Powered Recruitment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6556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B4B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40080"/>
            <a:ext cx="8229600" cy="45720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914400"/>
            <a:ext cx="2286000" cy="457200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697480" y="914400"/>
            <a:ext cx="6035040" cy="457200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Technology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2286000" cy="53035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371600"/>
            <a:ext cx="6035040" cy="53035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Java 21 + Spring Boot 3.2.5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938528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AI 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1938528"/>
            <a:ext cx="6035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Google Gemini 2.0 Flash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505456"/>
            <a:ext cx="2286000" cy="53035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Resume Parser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2505456"/>
            <a:ext cx="6035040" cy="53035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Apache Tika 2.9.1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72384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Database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3072384"/>
            <a:ext cx="6035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MySQL + H2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639312"/>
            <a:ext cx="2286000" cy="53035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Frontend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3639312"/>
            <a:ext cx="6035040" cy="53035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Vanilla JS + Chart.js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206240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Build / Deploy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4206240"/>
            <a:ext cx="6035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Maven + Docker + Railway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E1B4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7D2FE"/>
                </a:solidFill>
                <a:latin typeface="Calibri"/>
              </a:rPr>
              <a:t>KIT AI Resume Screener  |  AI-Powered Recruitment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6556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B4B"/>
                </a:solidFill>
                <a:latin typeface="Calibri"/>
              </a:rPr>
              <a:t>Scoring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40080"/>
            <a:ext cx="8229600" cy="45720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8503920" cy="658368"/>
          </a:xfrm>
          <a:prstGeom prst="rect">
            <a:avLst/>
          </a:prstGeom>
          <a:solidFill>
            <a:srgbClr val="1E1B4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Final Score = Skills(40%) + Semantic(30%) + Experience(20%) + Education(10%) + Preferred Bonus(+10 pts)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28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Calibri"/>
              </a:rPr>
              <a:t>Skills Match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874519"/>
            <a:ext cx="5943600" cy="34747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1874519"/>
            <a:ext cx="5943600" cy="347472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18836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6517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Calibri"/>
              </a:rPr>
              <a:t>Semantic Similarity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697479"/>
            <a:ext cx="5943600" cy="34747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2697479"/>
            <a:ext cx="4457700" cy="347472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2340" y="270662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747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Calibri"/>
              </a:rPr>
              <a:t>Experience Match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520439"/>
            <a:ext cx="5943600" cy="34747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3520439"/>
            <a:ext cx="2971800" cy="347472"/>
          </a:xfrm>
          <a:prstGeom prst="rect">
            <a:avLst/>
          </a:prstGeom>
          <a:solidFill>
            <a:srgbClr val="0695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352958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955C"/>
                </a:solidFill>
                <a:latin typeface="Calibri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2976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Calibri"/>
              </a:rPr>
              <a:t>Education Match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4343400"/>
            <a:ext cx="5943600" cy="34747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4343400"/>
            <a:ext cx="1485900" cy="347472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0540" y="435254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5120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Calibri"/>
              </a:rPr>
              <a:t>Preferred Skills Bonus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5166359"/>
            <a:ext cx="5943600" cy="34747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5166359"/>
            <a:ext cx="1485900" cy="347472"/>
          </a:xfrm>
          <a:prstGeom prst="rect">
            <a:avLst/>
          </a:prstGeom>
          <a:solidFill>
            <a:srgbClr val="E651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0540" y="5175503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5100"/>
                </a:solidFill>
                <a:latin typeface="Calibri"/>
              </a:rPr>
              <a:t>10%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943600"/>
            <a:ext cx="8503920" cy="411480"/>
          </a:xfrm>
          <a:prstGeom prst="rect">
            <a:avLst/>
          </a:prstGeom>
          <a:solidFill>
            <a:srgbClr val="F8F8F8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1E1B4B"/>
                </a:solidFill>
                <a:latin typeface="Calibri"/>
              </a:rPr>
              <a:t>Score ≥ 70%: Strong Match    |    Score ≥ 50%: Moderate Match    |    Score &lt; 50%: Weak Match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E1B4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7D2FE"/>
                </a:solidFill>
                <a:latin typeface="Calibri"/>
              </a:rPr>
              <a:t>KIT AI Resume Screener  |  AI-Powered Recruitment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6556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B4B"/>
                </a:solidFill>
                <a:latin typeface="Calibri"/>
              </a:rPr>
              <a:t>Database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40080"/>
            <a:ext cx="8229600" cy="45720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2377440" cy="457200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Candidate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2377440" cy="34747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 i="0">
                <a:solidFill>
                  <a:srgbClr val="1E1B4B"/>
                </a:solidFill>
                <a:latin typeface="Calibri"/>
              </a:rPr>
              <a:t>id (PK)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56231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 i="0">
                <a:solidFill>
                  <a:srgbClr val="1E1B4B"/>
                </a:solidFill>
                <a:latin typeface="Calibri"/>
              </a:rPr>
              <a:t>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03704"/>
            <a:ext cx="2377440" cy="34747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 i="0">
                <a:solidFill>
                  <a:srgbClr val="1E1B4B"/>
                </a:solidFill>
                <a:latin typeface="Calibri"/>
              </a:rPr>
              <a:t>email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51176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 i="0">
                <a:solidFill>
                  <a:srgbClr val="1E1B4B"/>
                </a:solidFill>
                <a:latin typeface="Calibri"/>
              </a:rPr>
              <a:t>resumeText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98648"/>
            <a:ext cx="2377440" cy="34747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 i="0">
                <a:solidFill>
                  <a:srgbClr val="1E1B4B"/>
                </a:solidFill>
                <a:latin typeface="Calibri"/>
              </a:rPr>
              <a:t>uploadedAt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051560"/>
            <a:ext cx="2377440" cy="457200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JobDescription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508760"/>
            <a:ext cx="2377440" cy="34747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 i="0">
                <a:solidFill>
                  <a:srgbClr val="1E1B4B"/>
                </a:solidFill>
                <a:latin typeface="Calibri"/>
              </a:rPr>
              <a:t>id (PK)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856231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 i="0">
                <a:solidFill>
                  <a:srgbClr val="1E1B4B"/>
                </a:solidFill>
                <a:latin typeface="Calibri"/>
              </a:rPr>
              <a:t>title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203704"/>
            <a:ext cx="2377440" cy="34747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 i="0">
                <a:solidFill>
                  <a:srgbClr val="1E1B4B"/>
                </a:solidFill>
                <a:latin typeface="Calibri"/>
              </a:rPr>
              <a:t>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551176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 i="0">
                <a:solidFill>
                  <a:srgbClr val="1E1B4B"/>
                </a:solidFill>
                <a:latin typeface="Calibri"/>
              </a:rPr>
              <a:t>requiredSkills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898648"/>
            <a:ext cx="2377440" cy="34747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 i="0">
                <a:solidFill>
                  <a:srgbClr val="1E1B4B"/>
                </a:solidFill>
                <a:latin typeface="Calibri"/>
              </a:rPr>
              <a:t>createdAt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051560"/>
            <a:ext cx="2377440" cy="457200"/>
          </a:xfrm>
          <a:prstGeom prst="rect">
            <a:avLst/>
          </a:prstGeom>
          <a:solidFill>
            <a:srgbClr val="0695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ScreeningResult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508760"/>
            <a:ext cx="2377440" cy="34747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 i="0">
                <a:solidFill>
                  <a:srgbClr val="1E1B4B"/>
                </a:solidFill>
                <a:latin typeface="Calibri"/>
              </a:rPr>
              <a:t>id (PK)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856231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 i="0">
                <a:solidFill>
                  <a:srgbClr val="1E1B4B"/>
                </a:solidFill>
                <a:latin typeface="Calibri"/>
              </a:rPr>
              <a:t>candidateId (FK)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203704"/>
            <a:ext cx="2377440" cy="34747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 i="0">
                <a:solidFill>
                  <a:srgbClr val="1E1B4B"/>
                </a:solidFill>
                <a:latin typeface="Calibri"/>
              </a:rPr>
              <a:t>jobId (FK)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551176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 i="0">
                <a:solidFill>
                  <a:srgbClr val="1E1B4B"/>
                </a:solidFill>
                <a:latin typeface="Calibri"/>
              </a:rPr>
              <a:t>score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898648"/>
            <a:ext cx="2377440" cy="34747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 i="0">
                <a:solidFill>
                  <a:srgbClr val="1E1B4B"/>
                </a:solidFill>
                <a:latin typeface="Calibri"/>
              </a:rPr>
              <a:t>aiReport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246120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 i="0">
                <a:solidFill>
                  <a:srgbClr val="1E1B4B"/>
                </a:solidFill>
                <a:latin typeface="Calibri"/>
              </a:rPr>
              <a:t>archetype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  <a:latin typeface="Calibri"/>
              </a:rPr>
              <a:t>1 : 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  <a:latin typeface="Calibri"/>
              </a:rPr>
              <a:t>1 : 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80560"/>
            <a:ext cx="8412480" cy="658368"/>
          </a:xfrm>
          <a:prstGeom prst="rect">
            <a:avLst/>
          </a:prstGeom>
          <a:solidFill>
            <a:srgbClr val="F8F8F8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 i="0">
                <a:solidFill>
                  <a:srgbClr val="1E1B4B"/>
                </a:solidFill>
                <a:latin typeface="Calibri"/>
              </a:rPr>
              <a:t>Candidate and JobDescription have a 1:N relationship with ScreeningResult. All entities managed via Spring Data JPA / Hibernate ORM.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E1B4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7D2FE"/>
                </a:solidFill>
                <a:latin typeface="Calibri"/>
              </a:rPr>
              <a:t>KIT AI Resume Screener  |  AI-Powered Recruitment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6556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B4B"/>
                </a:solidFill>
                <a:latin typeface="Calibri"/>
              </a:rPr>
              <a:t>UI Overview — 6 Main Pages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40080"/>
            <a:ext cx="8229600" cy="45720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606040" cy="256032"/>
          </a:xfrm>
          <a:prstGeom prst="rect">
            <a:avLst/>
          </a:prstGeom>
          <a:solidFill>
            <a:srgbClr val="DDDDD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060704"/>
            <a:ext cx="128016" cy="128016"/>
          </a:xfrm>
          <a:prstGeom prst="rect">
            <a:avLst/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60704"/>
            <a:ext cx="128016" cy="128016"/>
          </a:xfrm>
          <a:prstGeom prst="rect">
            <a:avLst/>
          </a:prstGeom>
          <a:solidFill>
            <a:srgbClr val="D9770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060704"/>
            <a:ext cx="128016" cy="128016"/>
          </a:xfrm>
          <a:prstGeom prst="rect">
            <a:avLst/>
          </a:prstGeom>
          <a:solidFill>
            <a:srgbClr val="0695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61872"/>
            <a:ext cx="2606040" cy="1481328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1051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EE"/>
                </a:solidFill>
                <a:latin typeface="Calibri"/>
              </a:rPr>
              <a:t>Score history
&amp; quick stats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005840"/>
            <a:ext cx="2606040" cy="256032"/>
          </a:xfrm>
          <a:prstGeom prst="rect">
            <a:avLst/>
          </a:prstGeom>
          <a:solidFill>
            <a:srgbClr val="DDDDD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9272" y="1060704"/>
            <a:ext cx="128016" cy="128016"/>
          </a:xfrm>
          <a:prstGeom prst="rect">
            <a:avLst/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060704"/>
            <a:ext cx="128016" cy="128016"/>
          </a:xfrm>
          <a:prstGeom prst="rect">
            <a:avLst/>
          </a:prstGeom>
          <a:solidFill>
            <a:srgbClr val="D9770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21608" y="1060704"/>
            <a:ext cx="128016" cy="128016"/>
          </a:xfrm>
          <a:prstGeom prst="rect">
            <a:avLst/>
          </a:prstGeom>
          <a:solidFill>
            <a:srgbClr val="0695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1261872"/>
            <a:ext cx="2606040" cy="1481328"/>
          </a:xfrm>
          <a:prstGeom prst="rect">
            <a:avLst/>
          </a:prstGeom>
          <a:solidFill>
            <a:srgbClr val="066CC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3258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Job Openings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81051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EE"/>
                </a:solidFill>
                <a:latin typeface="Calibri"/>
              </a:rPr>
              <a:t>Create &amp; manage
job postings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005840"/>
            <a:ext cx="2606040" cy="256032"/>
          </a:xfrm>
          <a:prstGeom prst="rect">
            <a:avLst/>
          </a:prstGeom>
          <a:solidFill>
            <a:srgbClr val="DDDDD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1060704"/>
            <a:ext cx="128016" cy="128016"/>
          </a:xfrm>
          <a:prstGeom prst="rect">
            <a:avLst/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060704"/>
            <a:ext cx="128016" cy="128016"/>
          </a:xfrm>
          <a:prstGeom prst="rect">
            <a:avLst/>
          </a:prstGeom>
          <a:solidFill>
            <a:srgbClr val="D9770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01968" y="1060704"/>
            <a:ext cx="128016" cy="128016"/>
          </a:xfrm>
          <a:prstGeom prst="rect">
            <a:avLst/>
          </a:prstGeom>
          <a:solidFill>
            <a:srgbClr val="0695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261872"/>
            <a:ext cx="2606040" cy="1481328"/>
          </a:xfrm>
          <a:prstGeom prst="rect">
            <a:avLst/>
          </a:prstGeom>
          <a:solidFill>
            <a:srgbClr val="0695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13258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Screen Resumes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181051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EE"/>
                </a:solidFill>
                <a:latin typeface="Calibri"/>
              </a:rPr>
              <a:t>Upload &amp; score
individual resumes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971800"/>
            <a:ext cx="2606040" cy="256032"/>
          </a:xfrm>
          <a:prstGeom prst="rect">
            <a:avLst/>
          </a:prstGeom>
          <a:solidFill>
            <a:srgbClr val="DDDDD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" y="3026664"/>
            <a:ext cx="128016" cy="128016"/>
          </a:xfrm>
          <a:prstGeom prst="rect">
            <a:avLst/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3026664"/>
            <a:ext cx="128016" cy="128016"/>
          </a:xfrm>
          <a:prstGeom prst="rect">
            <a:avLst/>
          </a:prstGeom>
          <a:solidFill>
            <a:srgbClr val="D9770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8" y="3026664"/>
            <a:ext cx="128016" cy="128016"/>
          </a:xfrm>
          <a:prstGeom prst="rect">
            <a:avLst/>
          </a:prstGeom>
          <a:solidFill>
            <a:srgbClr val="0695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227832"/>
            <a:ext cx="2606040" cy="1481328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2918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Batch Screening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377647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EE"/>
                </a:solidFill>
                <a:latin typeface="Calibri"/>
              </a:rPr>
              <a:t>Process up to
20 files at once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2971800"/>
            <a:ext cx="2606040" cy="256032"/>
          </a:xfrm>
          <a:prstGeom prst="rect">
            <a:avLst/>
          </a:prstGeom>
          <a:solidFill>
            <a:srgbClr val="DDDDD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19272" y="3026664"/>
            <a:ext cx="128016" cy="128016"/>
          </a:xfrm>
          <a:prstGeom prst="rect">
            <a:avLst/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20440" y="3026664"/>
            <a:ext cx="128016" cy="128016"/>
          </a:xfrm>
          <a:prstGeom prst="rect">
            <a:avLst/>
          </a:prstGeom>
          <a:solidFill>
            <a:srgbClr val="D9770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21608" y="3026664"/>
            <a:ext cx="128016" cy="128016"/>
          </a:xfrm>
          <a:prstGeom prst="rect">
            <a:avLst/>
          </a:prstGeom>
          <a:solidFill>
            <a:srgbClr val="0695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46120" y="3227832"/>
            <a:ext cx="2606040" cy="1481328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46120" y="32918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Career DNA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20" y="377647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EE"/>
                </a:solidFill>
                <a:latin typeface="Calibri"/>
              </a:rPr>
              <a:t>Radar chart
archetype 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2971800"/>
            <a:ext cx="2606040" cy="256032"/>
          </a:xfrm>
          <a:prstGeom prst="rect">
            <a:avLst/>
          </a:prstGeom>
          <a:solidFill>
            <a:srgbClr val="DDDDD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99632" y="3026664"/>
            <a:ext cx="128016" cy="128016"/>
          </a:xfrm>
          <a:prstGeom prst="rect">
            <a:avLst/>
          </a:prstGeom>
          <a:solidFill>
            <a:srgbClr val="DC262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3026664"/>
            <a:ext cx="128016" cy="128016"/>
          </a:xfrm>
          <a:prstGeom prst="rect">
            <a:avLst/>
          </a:prstGeom>
          <a:solidFill>
            <a:srgbClr val="D9770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601968" y="3026664"/>
            <a:ext cx="128016" cy="128016"/>
          </a:xfrm>
          <a:prstGeom prst="rect">
            <a:avLst/>
          </a:prstGeom>
          <a:solidFill>
            <a:srgbClr val="0695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26480" y="3227832"/>
            <a:ext cx="2606040" cy="1481328"/>
          </a:xfrm>
          <a:prstGeom prst="rect">
            <a:avLst/>
          </a:prstGeom>
          <a:solidFill>
            <a:srgbClr val="E651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32918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AI Resume Coach 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377647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EE"/>
                </a:solidFill>
                <a:latin typeface="Calibri"/>
              </a:rPr>
              <a:t>Conversational AI
coaching chatbot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E1B4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7D2FE"/>
                </a:solidFill>
                <a:latin typeface="Calibri"/>
              </a:rPr>
              <a:t>KIT AI Resume Screener  |  AI-Powered Recruitment Platform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6556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B4B"/>
                </a:solidFill>
                <a:latin typeface="Calibri"/>
              </a:rPr>
              <a:t>Results &amp;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40080"/>
            <a:ext cx="8229600" cy="45720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Calibri"/>
              </a:rPr>
              <a:t>Score Breakdown Example (Sample Candidate):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  <a:latin typeface="Calibri"/>
              </a:rPr>
              <a:t>Skills Match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417320"/>
            <a:ext cx="5029200" cy="310896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417320"/>
            <a:ext cx="4425696" cy="310896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0296" y="1426464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88%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385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  <a:latin typeface="Calibri"/>
              </a:rPr>
              <a:t>Semantic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1984248"/>
            <a:ext cx="5029200" cy="310896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1984248"/>
            <a:ext cx="3621024" cy="310896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5623" y="199339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72%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50545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  <a:latin typeface="Calibri"/>
              </a:rPr>
              <a:t>Experience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51176"/>
            <a:ext cx="5029200" cy="310896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51176"/>
            <a:ext cx="3268980" cy="310896"/>
          </a:xfrm>
          <a:prstGeom prst="rect">
            <a:avLst/>
          </a:prstGeom>
          <a:solidFill>
            <a:srgbClr val="0695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83579" y="256032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955C"/>
                </a:solidFill>
                <a:latin typeface="Calibri"/>
              </a:rPr>
              <a:t>65%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0723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  <a:latin typeface="Calibri"/>
              </a:rPr>
              <a:t>Education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3118103"/>
            <a:ext cx="5029200" cy="310896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3118103"/>
            <a:ext cx="4526280" cy="31089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79" y="312724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749039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  <a:latin typeface="Calibri"/>
              </a:rPr>
              <a:t>Career DNA Archetype Scores: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18795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  <a:latin typeface="Calibri"/>
              </a:rPr>
              <a:t>Backend Architect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4233672"/>
            <a:ext cx="4572000" cy="310896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06040" y="4233672"/>
            <a:ext cx="3886200" cy="310896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4242816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85%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71830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  <a:latin typeface="Calibri"/>
              </a:rPr>
              <a:t>Data &amp; ML Engineer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40" y="4764024"/>
            <a:ext cx="4572000" cy="310896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06040" y="4764024"/>
            <a:ext cx="2743200" cy="310896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79" y="477316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60%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24865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  <a:latin typeface="Calibri"/>
              </a:rPr>
              <a:t>Cloud &amp; DevOps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5294376"/>
            <a:ext cx="4572000" cy="310896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06040" y="5294376"/>
            <a:ext cx="2057400" cy="310896"/>
          </a:xfrm>
          <a:prstGeom prst="rect">
            <a:avLst/>
          </a:prstGeom>
          <a:solidFill>
            <a:srgbClr val="0F766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79" y="530352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45%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852160"/>
            <a:ext cx="8412480" cy="45720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E65100"/>
                </a:solidFill>
                <a:latin typeface="Calibri"/>
              </a:rPr>
              <a:t>AI Resume Coach: Live multi-turn conversation demo — ask follow-up questions, get instant coaching feedback.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E1B4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7D2FE"/>
                </a:solidFill>
                <a:latin typeface="Calibri"/>
              </a:rPr>
              <a:t>KIT AI Resume Screener  |  AI-Powered Recruitment 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6556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B4B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40080"/>
            <a:ext cx="8229600" cy="45720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896112"/>
            <a:ext cx="4023360" cy="411480"/>
          </a:xfrm>
          <a:prstGeom prst="rect">
            <a:avLst/>
          </a:prstGeom>
          <a:solidFill>
            <a:srgbClr val="4F46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What Was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07592"/>
            <a:ext cx="4023360" cy="45720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1E1B4B"/>
                </a:solidFill>
                <a:latin typeface="Calibri"/>
              </a:rPr>
              <a:t>✓  AI-powered single &amp; batch resume screening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37943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1E1B4B"/>
                </a:solidFill>
                <a:latin typeface="Calibri"/>
              </a:rPr>
              <a:t>✓  Career DNA fingerprinting (8 archetypes)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368296"/>
            <a:ext cx="4023360" cy="45720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1E1B4B"/>
                </a:solidFill>
                <a:latin typeface="Calibri"/>
              </a:rPr>
              <a:t>✓  Candidate comparison (2–5 candidates)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898648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1E1B4B"/>
                </a:solidFill>
                <a:latin typeface="Calibri"/>
              </a:rPr>
              <a:t>✓  AI Resume Coach — conversational chatbot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429000"/>
            <a:ext cx="4023360" cy="45720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1E1B4B"/>
                </a:solidFill>
                <a:latin typeface="Calibri"/>
              </a:rPr>
              <a:t>✓  Analytics dashboard with Chart.js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959352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1E1B4B"/>
                </a:solidFill>
                <a:latin typeface="Calibri"/>
              </a:rPr>
              <a:t>✓  REST API with Spring Boot + Gemini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489703"/>
            <a:ext cx="4023360" cy="45720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1E1B4B"/>
                </a:solidFill>
                <a:latin typeface="Calibri"/>
              </a:rPr>
              <a:t>✓  Docker-ready deployment on Railway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896112"/>
            <a:ext cx="4023360" cy="411480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307592"/>
            <a:ext cx="4023360" cy="45720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1E1B4B"/>
                </a:solidFill>
                <a:latin typeface="Calibri"/>
              </a:rPr>
              <a:t>→  Email notifications for 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837943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1E1B4B"/>
                </a:solidFill>
                <a:latin typeface="Calibri"/>
              </a:rPr>
              <a:t>→  JWT-based authentication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368296"/>
            <a:ext cx="4023360" cy="45720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1E1B4B"/>
                </a:solidFill>
                <a:latin typeface="Calibri"/>
              </a:rPr>
              <a:t>→  Mobile app (React Native)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898648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1E1B4B"/>
                </a:solidFill>
                <a:latin typeface="Calibri"/>
              </a:rPr>
              <a:t>→  Voice-enabled AI coach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3429000"/>
            <a:ext cx="4023360" cy="45720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1E1B4B"/>
                </a:solidFill>
                <a:latin typeface="Calibri"/>
              </a:rPr>
              <a:t>→  LinkedIn profile 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3959352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 i="0">
                <a:solidFill>
                  <a:srgbClr val="1E1B4B"/>
                </a:solidFill>
                <a:latin typeface="Calibri"/>
              </a:rPr>
              <a:t>→  Automated interview scheduling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989320"/>
            <a:ext cx="9144000" cy="548640"/>
          </a:xfrm>
          <a:prstGeom prst="rect">
            <a:avLst/>
          </a:prstGeom>
          <a:solidFill>
            <a:srgbClr val="1E1B4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6035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Thank You  ·  Questions Welcome  ·  KIT AI Resume Screener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60533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7D2FE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Database Design — ER Diagram (Chen Notation)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645920" cy="640080"/>
          </a:xfrm>
          <a:prstGeom prst="rect">
            <a:avLst/>
          </a:prstGeom>
          <a:solidFill>
            <a:srgbClr val="F5A623"/>
          </a:solidFill>
          <a:ln w="19050">
            <a:solidFill>
              <a:srgbClr val="CC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CANDIDATE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0" y="1371600"/>
            <a:ext cx="1828800" cy="640080"/>
          </a:xfrm>
          <a:prstGeom prst="rect">
            <a:avLst/>
          </a:prstGeom>
          <a:solidFill>
            <a:srgbClr val="F5A623"/>
          </a:solidFill>
          <a:ln w="19050">
            <a:solidFill>
              <a:srgbClr val="CC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JOB_DESCRIPTION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3840480"/>
            <a:ext cx="2011680" cy="731520"/>
          </a:xfrm>
          <a:prstGeom prst="rect">
            <a:avLst/>
          </a:prstGeom>
          <a:solidFill>
            <a:srgbClr val="F5A623"/>
          </a:solidFill>
          <a:ln w="19050">
            <a:solidFill>
              <a:srgbClr val="CC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SCREENING RESULT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2560320" y="2651760"/>
            <a:ext cx="1097280" cy="548640"/>
          </a:xfrm>
          <a:prstGeom prst="pentagon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i="1" b="0">
                <a:solidFill>
                  <a:srgbClr val="000000"/>
                </a:solidFill>
              </a:rPr>
              <a:t>submits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5486400" y="2651760"/>
            <a:ext cx="1097280" cy="548640"/>
          </a:xfrm>
          <a:prstGeom prst="pentagon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i="1" b="0">
                <a:solidFill>
                  <a:srgbClr val="000000"/>
                </a:solidFill>
              </a:rPr>
              <a:t>receives</a:t>
            </a:r>
          </a:p>
        </p:txBody>
      </p:sp>
      <p:sp>
        <p:nvSpPr>
          <p:cNvPr id="9" name="Oval 8"/>
          <p:cNvSpPr/>
          <p:nvPr/>
        </p:nvSpPr>
        <p:spPr>
          <a:xfrm>
            <a:off x="91440" y="822960"/>
            <a:ext cx="1005840" cy="320040"/>
          </a:xfrm>
          <a:prstGeom prst="ellipse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CandidateID (PK)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982980"/>
            <a:ext cx="685800" cy="70866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0" y="164592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</a:rPr>
              <a:t>Name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502920" y="1691640"/>
            <a:ext cx="777240" cy="11430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0" y="219456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</a:rPr>
              <a:t>Email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502920" y="1691640"/>
            <a:ext cx="777240" cy="662939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0" y="274320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</a:rPr>
              <a:t>Phone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502920" y="1691640"/>
            <a:ext cx="777240" cy="121158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1440" y="329184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</a:rPr>
              <a:t>ExtractedSkills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594360" y="1691640"/>
            <a:ext cx="685800" cy="176022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14400" y="356616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</a:rPr>
              <a:t>ExperienceYears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1280160" y="1691640"/>
            <a:ext cx="137160" cy="203454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828800" y="329184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</a:rPr>
              <a:t>Education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1280160" y="1691640"/>
            <a:ext cx="1051560" cy="176022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103120" y="219456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</a:rPr>
              <a:t>ResumeText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1280160" y="1691640"/>
            <a:ext cx="1325879" cy="662939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103120" y="274320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</a:rPr>
              <a:t>ResumeFilename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1280160" y="1691640"/>
            <a:ext cx="1325879" cy="121158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103120" y="164592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</a:rPr>
              <a:t>CreatedAt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1280160" y="1691640"/>
            <a:ext cx="1325879" cy="11430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686800" y="822960"/>
            <a:ext cx="1005840" cy="320040"/>
          </a:xfrm>
          <a:prstGeom prst="ellipse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JobID (PK)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7955279" y="982980"/>
            <a:ext cx="1234441" cy="70866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686800" y="164592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</a:rPr>
              <a:t>Title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55279" y="1691640"/>
            <a:ext cx="1234441" cy="11430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686800" y="219456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</a:rPr>
              <a:t>Department</a:t>
            </a:r>
          </a:p>
        </p:txBody>
      </p:sp>
      <p:cxnSp>
        <p:nvCxnSpPr>
          <p:cNvPr id="34" name="Connector 33"/>
          <p:cNvCxnSpPr/>
          <p:nvPr/>
        </p:nvCxnSpPr>
        <p:spPr>
          <a:xfrm flipH="1" flipV="1">
            <a:off x="7955279" y="1691640"/>
            <a:ext cx="1234441" cy="662939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686800" y="274320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</a:rPr>
              <a:t>Description</a:t>
            </a:r>
          </a:p>
        </p:txBody>
      </p:sp>
      <p:cxnSp>
        <p:nvCxnSpPr>
          <p:cNvPr id="36" name="Connector 35"/>
          <p:cNvCxnSpPr/>
          <p:nvPr/>
        </p:nvCxnSpPr>
        <p:spPr>
          <a:xfrm flipH="1" flipV="1">
            <a:off x="7955279" y="1691640"/>
            <a:ext cx="1234441" cy="121158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321040" y="329184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</a:rPr>
              <a:t>RequiredSkills</a:t>
            </a:r>
          </a:p>
        </p:txBody>
      </p:sp>
      <p:cxnSp>
        <p:nvCxnSpPr>
          <p:cNvPr id="38" name="Connector 37"/>
          <p:cNvCxnSpPr/>
          <p:nvPr/>
        </p:nvCxnSpPr>
        <p:spPr>
          <a:xfrm flipH="1" flipV="1">
            <a:off x="7955279" y="1691640"/>
            <a:ext cx="868681" cy="176022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7772400" y="356616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</a:rPr>
              <a:t>PreferredSkills</a:t>
            </a:r>
          </a:p>
        </p:txBody>
      </p:sp>
      <p:cxnSp>
        <p:nvCxnSpPr>
          <p:cNvPr id="40" name="Connector 39"/>
          <p:cNvCxnSpPr/>
          <p:nvPr/>
        </p:nvCxnSpPr>
        <p:spPr>
          <a:xfrm flipH="1" flipV="1">
            <a:off x="7955279" y="1691640"/>
            <a:ext cx="320041" cy="203454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675120" y="329184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</a:rPr>
              <a:t>MinExperience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7178040" y="1691640"/>
            <a:ext cx="777239" cy="176022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675120" y="274320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</a:rPr>
              <a:t>MinEducation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7178040" y="1691640"/>
            <a:ext cx="777239" cy="121158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675120" y="219456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</a:rPr>
              <a:t>CreatedAt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7178040" y="1691640"/>
            <a:ext cx="777239" cy="662939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2560320" y="4480560"/>
            <a:ext cx="1005840" cy="320040"/>
          </a:xfrm>
          <a:prstGeom prst="ellipse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ResultID (PK)</a:t>
            </a:r>
          </a:p>
        </p:txBody>
      </p:sp>
      <p:cxnSp>
        <p:nvCxnSpPr>
          <p:cNvPr id="48" name="Connector 47"/>
          <p:cNvCxnSpPr/>
          <p:nvPr/>
        </p:nvCxnSpPr>
        <p:spPr>
          <a:xfrm flipV="1">
            <a:off x="3063239" y="4206240"/>
            <a:ext cx="1417321" cy="43434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2011680" y="512064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0">
                <a:solidFill>
                  <a:srgbClr val="FFFFFF"/>
                </a:solidFill>
              </a:rPr>
              <a:t>MatchScore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2514600" y="4206240"/>
            <a:ext cx="1965960" cy="1074419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2011680" y="566928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0">
                <a:solidFill>
                  <a:srgbClr val="FFFFFF"/>
                </a:solidFill>
              </a:rPr>
              <a:t>MatchStatus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2514600" y="4206240"/>
            <a:ext cx="1965960" cy="162306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2834640" y="612648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0">
                <a:solidFill>
                  <a:srgbClr val="FFFFFF"/>
                </a:solidFill>
              </a:rPr>
              <a:t>ScreeningMode</a:t>
            </a:r>
          </a:p>
        </p:txBody>
      </p:sp>
      <p:cxnSp>
        <p:nvCxnSpPr>
          <p:cNvPr id="54" name="Connector 53"/>
          <p:cNvCxnSpPr/>
          <p:nvPr/>
        </p:nvCxnSpPr>
        <p:spPr>
          <a:xfrm flipV="1">
            <a:off x="3337560" y="4206240"/>
            <a:ext cx="1143000" cy="208026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3840480" y="640080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0">
                <a:solidFill>
                  <a:srgbClr val="FFFFFF"/>
                </a:solidFill>
              </a:rPr>
              <a:t>AISummary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4343400" y="4206240"/>
            <a:ext cx="137160" cy="235458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4663440" y="640080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0">
                <a:solidFill>
                  <a:srgbClr val="FFFFFF"/>
                </a:solidFill>
              </a:rPr>
              <a:t>AIStrengths</a:t>
            </a:r>
          </a:p>
        </p:txBody>
      </p:sp>
      <p:cxnSp>
        <p:nvCxnSpPr>
          <p:cNvPr id="58" name="Connector 57"/>
          <p:cNvCxnSpPr/>
          <p:nvPr/>
        </p:nvCxnSpPr>
        <p:spPr>
          <a:xfrm flipH="1" flipV="1">
            <a:off x="4480560" y="4206240"/>
            <a:ext cx="685799" cy="235458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5669280" y="640080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0">
                <a:solidFill>
                  <a:srgbClr val="FFFFFF"/>
                </a:solidFill>
              </a:rPr>
              <a:t>AIWeaknesses</a:t>
            </a:r>
          </a:p>
        </p:txBody>
      </p:sp>
      <p:cxnSp>
        <p:nvCxnSpPr>
          <p:cNvPr id="60" name="Connector 59"/>
          <p:cNvCxnSpPr/>
          <p:nvPr/>
        </p:nvCxnSpPr>
        <p:spPr>
          <a:xfrm flipH="1" flipV="1">
            <a:off x="4480560" y="4206240"/>
            <a:ext cx="1691640" cy="235458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6400800" y="612648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0">
                <a:solidFill>
                  <a:srgbClr val="FFFFFF"/>
                </a:solidFill>
              </a:rPr>
              <a:t>SuggestedQuestions</a:t>
            </a:r>
          </a:p>
        </p:txBody>
      </p:sp>
      <p:cxnSp>
        <p:nvCxnSpPr>
          <p:cNvPr id="62" name="Connector 61"/>
          <p:cNvCxnSpPr/>
          <p:nvPr/>
        </p:nvCxnSpPr>
        <p:spPr>
          <a:xfrm flipH="1" flipV="1">
            <a:off x="4480560" y="4206240"/>
            <a:ext cx="2423160" cy="208026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6583680" y="566928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0">
                <a:solidFill>
                  <a:srgbClr val="FFFFFF"/>
                </a:solidFill>
              </a:rPr>
              <a:t>CareerDNAProfile</a:t>
            </a:r>
          </a:p>
        </p:txBody>
      </p:sp>
      <p:cxnSp>
        <p:nvCxnSpPr>
          <p:cNvPr id="64" name="Connector 63"/>
          <p:cNvCxnSpPr/>
          <p:nvPr/>
        </p:nvCxnSpPr>
        <p:spPr>
          <a:xfrm flipH="1" flipV="1">
            <a:off x="4480560" y="4206240"/>
            <a:ext cx="2606040" cy="162306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6583680" y="512064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0">
                <a:solidFill>
                  <a:srgbClr val="FFFFFF"/>
                </a:solidFill>
              </a:rPr>
              <a:t>RecruiterNotes</a:t>
            </a:r>
          </a:p>
        </p:txBody>
      </p:sp>
      <p:cxnSp>
        <p:nvCxnSpPr>
          <p:cNvPr id="66" name="Connector 65"/>
          <p:cNvCxnSpPr/>
          <p:nvPr/>
        </p:nvCxnSpPr>
        <p:spPr>
          <a:xfrm flipH="1" flipV="1">
            <a:off x="4480560" y="4206240"/>
            <a:ext cx="2606040" cy="1074419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5943600" y="4572000"/>
            <a:ext cx="1005840" cy="32004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0">
                <a:solidFill>
                  <a:srgbClr val="FFFFFF"/>
                </a:solidFill>
              </a:rPr>
              <a:t>ScreenedAt</a:t>
            </a:r>
          </a:p>
        </p:txBody>
      </p:sp>
      <p:cxnSp>
        <p:nvCxnSpPr>
          <p:cNvPr id="68" name="Connector 67"/>
          <p:cNvCxnSpPr/>
          <p:nvPr/>
        </p:nvCxnSpPr>
        <p:spPr>
          <a:xfrm flipH="1" flipV="1">
            <a:off x="4480560" y="4206240"/>
            <a:ext cx="1965960" cy="52578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3474720" y="4480560"/>
            <a:ext cx="1005840" cy="32004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0">
                <a:solidFill>
                  <a:srgbClr val="FFFFFF"/>
                </a:solidFill>
              </a:rPr>
              <a:t>CandidateID (FK)</a:t>
            </a:r>
          </a:p>
        </p:txBody>
      </p:sp>
      <p:cxnSp>
        <p:nvCxnSpPr>
          <p:cNvPr id="70" name="Connector 69"/>
          <p:cNvCxnSpPr/>
          <p:nvPr/>
        </p:nvCxnSpPr>
        <p:spPr>
          <a:xfrm flipV="1">
            <a:off x="3977639" y="4206240"/>
            <a:ext cx="502921" cy="43434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4754880" y="4480560"/>
            <a:ext cx="1005840" cy="32004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0">
                <a:solidFill>
                  <a:srgbClr val="FFFFFF"/>
                </a:solidFill>
              </a:rPr>
              <a:t>JobID (FK)</a:t>
            </a:r>
          </a:p>
        </p:txBody>
      </p:sp>
      <p:cxnSp>
        <p:nvCxnSpPr>
          <p:cNvPr id="72" name="Connector 71"/>
          <p:cNvCxnSpPr/>
          <p:nvPr/>
        </p:nvCxnSpPr>
        <p:spPr>
          <a:xfrm flipH="1" flipV="1">
            <a:off x="4480560" y="4206240"/>
            <a:ext cx="777240" cy="434340"/>
          </a:xfrm>
          <a:prstGeom prst="line">
            <a:avLst/>
          </a:prstGeom>
          <a:ln w="1270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103120" y="1691640"/>
            <a:ext cx="1005840" cy="1234439"/>
          </a:xfrm>
          <a:prstGeom prst="line">
            <a:avLst/>
          </a:prstGeom>
          <a:ln w="1905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108960" y="2926079"/>
            <a:ext cx="1371600" cy="914401"/>
          </a:xfrm>
          <a:prstGeom prst="line">
            <a:avLst/>
          </a:prstGeom>
          <a:ln w="1905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6035040" y="1691640"/>
            <a:ext cx="1005840" cy="1234439"/>
          </a:xfrm>
          <a:prstGeom prst="line">
            <a:avLst/>
          </a:prstGeom>
          <a:ln w="1905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4480560" y="2926079"/>
            <a:ext cx="1554480" cy="914401"/>
          </a:xfrm>
          <a:prstGeom prst="line">
            <a:avLst/>
          </a:prstGeom>
          <a:ln w="19050">
            <a:solidFill>
              <a:srgbClr val="216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148839" y="155448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83279" y="35204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0000"/>
                </a:solidFill>
              </a:rPr>
              <a:t>1..*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75120" y="15544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32120" y="35204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0000"/>
                </a:solidFill>
              </a:rPr>
              <a:t>1..*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0" y="5486400"/>
            <a:ext cx="1645920" cy="109728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■ Orange = Entity</a:t>
            </a:r>
          </a:p>
          <a:p>
            <a:pPr algn="l"/>
            <a:r>
              <a:rPr sz="800" b="1">
                <a:solidFill>
                  <a:srgbClr val="4DB6AC"/>
                </a:solidFill>
              </a:rPr>
              <a:t>● Teal = Attribute</a:t>
            </a:r>
          </a:p>
          <a:p>
            <a:pPr algn="l"/>
            <a:r>
              <a:rPr sz="800" b="1">
                <a:solidFill>
                  <a:srgbClr val="FFD54F"/>
                </a:solidFill>
              </a:rPr>
              <a:t>◆ Gold = Relationship</a:t>
            </a:r>
          </a:p>
          <a:p>
            <a:pPr algn="l"/>
            <a:r>
              <a:rPr sz="800" b="1">
                <a:solidFill>
                  <a:srgbClr val="00796B"/>
                </a:solidFill>
              </a:rPr>
              <a:t>● Dark Teal = PK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