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029200"/>
            <a:ext cx="2286000" cy="2286000"/>
          </a:xfrm>
          <a:prstGeom prst="ellipse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KIT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AI-Based Resume Screening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with AI Resume Coach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291840"/>
            <a:ext cx="4572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Presented by: SRI HARI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B4FC"/>
                </a:solidFill>
                <a:latin typeface="Calibri"/>
              </a:rPr>
              <a:t>FSJ-INTERN-060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09160"/>
            <a:ext cx="1234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1E1B4B"/>
                </a:solidFill>
                <a:latin typeface="Calibri"/>
              </a:rPr>
              <a:t>Java 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93392" y="4709160"/>
            <a:ext cx="1234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1E1B4B"/>
                </a:solidFill>
                <a:latin typeface="Calibri"/>
              </a:rPr>
              <a:t>Spring Boot 3.2.5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0984" y="4709160"/>
            <a:ext cx="1234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1E1B4B"/>
                </a:solidFill>
                <a:latin typeface="Calibri"/>
              </a:rPr>
              <a:t>Gemini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4709160"/>
            <a:ext cx="1234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1E1B4B"/>
                </a:solidFill>
                <a:latin typeface="Calibri"/>
              </a:rPr>
              <a:t>Apache Tika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4709160"/>
            <a:ext cx="1234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1E1B4B"/>
                </a:solidFill>
                <a:latin typeface="Calibri"/>
              </a:rPr>
              <a:t>MySQL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4709160"/>
            <a:ext cx="1234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1E1B4B"/>
                </a:solidFill>
                <a:latin typeface="Calibri"/>
              </a:rPr>
              <a:t>Railway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651760" cy="1417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  <a:latin typeface="Calibri"/>
              </a:rPr>
              <a:t>23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Average time spent
per resume by recruiters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651760" cy="1417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34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  <a:latin typeface="Calibri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Qualified candidates rejected
due to keyword mismatch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2651760" cy="1417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  <a:latin typeface="Calibri"/>
              </a:rPr>
              <a:t>250+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Applications received
per job opening on average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4023360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100">
                <a:solidFill>
                  <a:srgbClr val="1E1B4B"/>
                </a:solidFill>
                <a:latin typeface="Calibri"/>
              </a:rPr>
              <a:t>• Manual resume screening is slow, inconsistent, and prone to bias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1E1B4B"/>
                </a:solidFill>
                <a:latin typeface="Calibri"/>
              </a:rPr>
              <a:t>• Good candidates get rejected due to poor keyword matching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788920"/>
            <a:ext cx="4023360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100">
                <a:solidFill>
                  <a:srgbClr val="1E1B4B"/>
                </a:solidFill>
                <a:latin typeface="Calibri"/>
              </a:rPr>
              <a:t>• HR teams spend 40% of hiring time just reading resumes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1E1B4B"/>
                </a:solidFill>
                <a:latin typeface="Calibri"/>
              </a:rPr>
              <a:t>• No real-time AI coaching or feedback exists in current ATS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Key Challenges in Traditional Recruitment: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Solution Overview — KIT AI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E1B4B"/>
                </a:solidFill>
                <a:latin typeface="Calibri"/>
              </a:rPr>
              <a:t>KIT AI automates the entire candidate screening pipeline using AI. It parses resumes, extracts skills, scores candidates against job requirements, and generates detailed AI evaluation reports — all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265176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933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🔍 AI Resume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Instant semantic analysis
of uploaded resumes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20240"/>
            <a:ext cx="265176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933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🧬 Career DNA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8-archetype classification
with radar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265176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9933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📦 Batch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Process up to 20 resumes
at once — auto-ranked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265176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364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🤖 AI Resume Coach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94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Real-time Gemini AI chat
Grounded in candidate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3291840"/>
            <a:ext cx="265176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3364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📊 Analytics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794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Skill heatmaps, DNA trends
Real-time stats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291840"/>
            <a:ext cx="265176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3649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⚖️ Candidate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794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Side-by-side 2–5 candidates
Best value highlighted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" y="1371600"/>
            <a:ext cx="1691640" cy="1463040"/>
          </a:xfrm>
          <a:prstGeom prst="rect">
            <a:avLst/>
          </a:prstGeom>
          <a:solidFill>
            <a:srgbClr val="DBEAF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Browser SPA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Vanilla JS + Chart.js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Light Theme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1700" y="2048256"/>
            <a:ext cx="4114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1740" y="1965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46E5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900" y="1371600"/>
            <a:ext cx="1691640" cy="146304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Spring Boot API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Java 21 + REST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JWT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6260" y="2048256"/>
            <a:ext cx="4114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6300" y="1965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46E5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3460" y="1371600"/>
            <a:ext cx="1691640" cy="14630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AI Engine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Gemini 3.5 Flash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Offline NLP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0820" y="2048256"/>
            <a:ext cx="4114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0860" y="1965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46E5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18020" y="1371600"/>
            <a:ext cx="1691640" cy="1463040"/>
          </a:xfrm>
          <a:prstGeom prst="rect">
            <a:avLst/>
          </a:prstGeom>
          <a:solidFill>
            <a:srgbClr val="DCFCE7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MySQL Database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Hibernate JPA</a:t>
            </a:r>
          </a:p>
          <a:p>
            <a:pPr algn="ctr"/>
            <a:r>
              <a:rPr sz="1000" b="0">
                <a:solidFill>
                  <a:srgbClr val="1E1B4B"/>
                </a:solidFill>
                <a:latin typeface="Calibri"/>
              </a:rPr>
              <a:t>Railway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" y="10515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900" y="10515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Backend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3460" y="10515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8020" y="10515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Data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8412480" cy="594360"/>
          </a:xfrm>
          <a:prstGeom prst="rect">
            <a:avLst/>
          </a:prstGeom>
          <a:solidFill>
            <a:srgbClr val="FFF7E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AI Resume Coach  ↔  Spring Boot  ↔  POST /api/coach/chat  ↔  Gemini 3.5 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  <a:latin typeface="Calibri"/>
              </a:rPr>
              <a:t>HTTP/REST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  <a:latin typeface="Calibri"/>
              </a:rPr>
              <a:t>JSON payloads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  <a:latin typeface="Calibri"/>
              </a:rPr>
              <a:t>Prompt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3AED"/>
                </a:solidFill>
                <a:latin typeface="Calibri"/>
              </a:rPr>
              <a:t>JDBC/JPA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97680"/>
            <a:ext cx="841248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Security &amp; Deployment</a:t>
            </a:r>
          </a:p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  JWT-style session tokens  |  Spring Security role-based access  |  BCrypt password hashing</a:t>
            </a:r>
          </a:p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  Docker containerisation  |  Railway cloud deployment  |  Environment-variable config  |  H2 dev / MySQL prod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651760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6517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95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Single Resume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Upload PDF/DOCX/TXT/RTF
Instant AI evaluation report
Gemini + Offline NLP dual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43000"/>
            <a:ext cx="2651760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143000"/>
            <a:ext cx="26517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795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Batch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600200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Process up to 20 resumes at once
Auto-ranked by match score
Progress bar with live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2651760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143000"/>
            <a:ext cx="2651760" cy="3840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1795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Career DNA Fingerprint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600200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8 archetype classification
Radar chart visualisation
100+ keyword taxonomy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2651760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788920"/>
            <a:ext cx="26517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2549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AI Resume Coach ★ NOVELTY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246120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Real-time Gemini AI chat
Grounded in candidate context
Multi-turn conversation 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788920"/>
            <a:ext cx="2651760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265176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82549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Candidate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246120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Side-by-side 2–5 candidates
Best value cell highlighting
Export-ready 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788920"/>
            <a:ext cx="2651760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2788920"/>
            <a:ext cx="26517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82549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246120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Skill heatmaps &amp; DNA trends
Real-time recruitment stats
4 KPI stat cards on landing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Career DNA Fingerprint — Unique Profiler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E1B4B"/>
                </a:solidFill>
                <a:latin typeface="Calibri"/>
              </a:rPr>
              <a:t>The Career DNA engine classifies every candidate into 8 professional archetypes using a weighted keyword taxonomy (100+ keywords). Results are displayed as a radar chart — giving recruiters an instant visual fingerprint of who the candidate really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" y="201168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🏗️ Backend Architect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8024" y="201168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🎨 Frontend Craftsman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4296" y="201168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📈 Data &amp; ML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30568" y="201168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☁️ Cloud &amp; DevOps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" y="301752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🗄️ Database Specialist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8024" y="301752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🔐 Security Engineer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4296" y="301752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👑 Technical Leader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3017520"/>
            <a:ext cx="2011680" cy="822960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📱 Mobile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841248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3AED"/>
                </a:solidFill>
                <a:latin typeface="Calibri"/>
              </a:rPr>
              <a:t>Each axis scores 0–100 based on keyword match weight</a:t>
            </a:r>
          </a:p>
          <a:p>
            <a:pPr algn="ctr"/>
            <a:r>
              <a:rPr sz="1000">
                <a:solidFill>
                  <a:srgbClr val="1E1B4B"/>
                </a:solidFill>
                <a:latin typeface="Calibri"/>
              </a:rPr>
              <a:t>Dominant + Secondary archetype identified  •  Overall DNA Strength computed  •  Radar chart visualisation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498348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974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983480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Extract resume text via Apache Tika</a:t>
            </a:r>
          </a:p>
        </p:txBody>
      </p:sp>
      <p:sp>
        <p:nvSpPr>
          <p:cNvPr id="20" name="Oval 19"/>
          <p:cNvSpPr/>
          <p:nvPr/>
        </p:nvSpPr>
        <p:spPr>
          <a:xfrm>
            <a:off x="2514600" y="498348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974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983480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Score against 100+ keyword taxonomy</a:t>
            </a:r>
          </a:p>
        </p:txBody>
      </p:sp>
      <p:sp>
        <p:nvSpPr>
          <p:cNvPr id="23" name="Oval 22"/>
          <p:cNvSpPr/>
          <p:nvPr/>
        </p:nvSpPr>
        <p:spPr>
          <a:xfrm>
            <a:off x="4709160" y="498348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974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983480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Normalise to 0–100 per archetype</a:t>
            </a:r>
          </a:p>
        </p:txBody>
      </p:sp>
      <p:sp>
        <p:nvSpPr>
          <p:cNvPr id="26" name="Oval 25"/>
          <p:cNvSpPr/>
          <p:nvPr/>
        </p:nvSpPr>
        <p:spPr>
          <a:xfrm>
            <a:off x="6903720" y="498348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4974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4983480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Render radar chart on frontend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1B4B"/>
                </a:solidFill>
                <a:latin typeface="Calibri"/>
              </a:rPr>
              <a:t>★ NOVELTY FEATURE — AI Resume Coach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82880"/>
            <a:ext cx="914400" cy="320040"/>
          </a:xfrm>
          <a:prstGeom prst="rect">
            <a:avLst/>
          </a:prstGeom>
          <a:solidFill>
            <a:srgbClr val="F59E0B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201168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1B4B"/>
                </a:solidFill>
                <a:latin typeface="Calibri"/>
              </a:rPr>
              <a:t>UNIQUE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8412480" cy="86868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What No Existing ATS Has: Every other ATS produces a static one-shot report. KIT AI introduces a real-time, multi-turn conversational AI chatbot fully grounded in the candidate's actual resume and target job description.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3931920" cy="594360"/>
          </a:xfrm>
          <a:prstGeom prst="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💬  "How can this candidate improve their resume?"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48840"/>
            <a:ext cx="3931920" cy="594360"/>
          </a:xfrm>
          <a:prstGeom prst="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💬  "Write a professional cover letter for this candidate."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07792"/>
            <a:ext cx="3931920" cy="594360"/>
          </a:xfrm>
          <a:prstGeom prst="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💬  "What skills should they learn next for this role?"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907792"/>
            <a:ext cx="3931920" cy="594360"/>
          </a:xfrm>
          <a:prstGeom prst="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💬  "What salary range should they expect in this field?"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66744"/>
            <a:ext cx="3931920" cy="594360"/>
          </a:xfrm>
          <a:prstGeom prst="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💬  "Compare skill gaps with job requirements in detail."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666744"/>
            <a:ext cx="3931920" cy="594360"/>
          </a:xfrm>
          <a:prstGeom prst="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E1B4B"/>
                </a:solidFill>
                <a:latin typeface="Calibri"/>
              </a:rPr>
              <a:t>💬  "What portfolio projects should they add to stand out?"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49240"/>
            <a:ext cx="8412480" cy="4114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POST /api/coach/chat   ·   Multi-turn conversation history   ·   Gemini 3.5 Flash   ·   Context-aware grounding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554480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97280"/>
            <a:ext cx="3200400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1188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097280"/>
            <a:ext cx="3657600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00200"/>
            <a:ext cx="155448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60020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69164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600200"/>
            <a:ext cx="32004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9968" y="169164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Java 21 + Spring Boot 3.2.5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600200"/>
            <a:ext cx="36576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169164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REST API, Business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0312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10312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1945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AI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1031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219456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Google Gemini 3.5 Flash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1031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8" y="219456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Semantic Evaluation, AI Coach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06040"/>
            <a:ext cx="155448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60604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69748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Resume Parser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2606040"/>
            <a:ext cx="32004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269748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Apache Tika 2.9.1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606040"/>
            <a:ext cx="36576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8" y="269748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PDF/DOCX/TXT/RTF text extraction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1089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10896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20040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31089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9968" y="320040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MySQL + H2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10896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21808" y="320040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Production + Development storage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611880"/>
            <a:ext cx="155448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61188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370332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Frontend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3611880"/>
            <a:ext cx="32004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9968" y="370332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Vanilla JS SPA + Chart.js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611880"/>
            <a:ext cx="36576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21808" y="370332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Single page application, charts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1148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11480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420624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Build/Deploy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41148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420624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Maven + Docker + Railway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41148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21808" y="420624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CI/CD pipeline, cloud hosting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617720"/>
            <a:ext cx="155448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4617720"/>
            <a:ext cx="548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47091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Auth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4617720"/>
            <a:ext cx="32004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9968" y="4709160"/>
            <a:ext cx="3035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JWT-style session + Spring Security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0" y="4617720"/>
            <a:ext cx="3657600" cy="5029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21808" y="470916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Role-based access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Offline Scoring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F0F4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F46E5"/>
                </a:solidFill>
                <a:latin typeface="Calibri"/>
              </a:rPr>
              <a:t>Final Score = (Skills × 40%) + (Semantic × 30%) + (Experience × 20%) + (Education × 10%) + Preferred Bonus (up to +10 pts)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Skills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039112"/>
            <a:ext cx="466344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2039112"/>
            <a:ext cx="1865376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40%  40% weight — Taxonomy matching against required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Semantic Similarity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587752"/>
            <a:ext cx="466344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2587752"/>
            <a:ext cx="139903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51460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30%  30% weight — TF-IDF cosine similarity vs job 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632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Experience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136392"/>
            <a:ext cx="466344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136392"/>
            <a:ext cx="932688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06324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20%  20% weight — Years matched against minimum 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611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Education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685032"/>
            <a:ext cx="466344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68880" y="3685032"/>
            <a:ext cx="466344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6118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10%  10% weight — Degree rank vs minimum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605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Preferred Bonus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233672"/>
            <a:ext cx="466344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68880" y="4233672"/>
            <a:ext cx="46634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16052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10%  +10pts max — Nice-to-have skills bonus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8412480" cy="64008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B4B"/>
                </a:solidFill>
                <a:latin typeface="Calibri"/>
              </a:rPr>
              <a:t>Status thresholds:  ≥75% = Shortlisted   |   50–74% = Under Review   |   &lt;50% = Rejected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Database Design — ER Diagram (Chen Notation)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463040" cy="594360"/>
          </a:xfrm>
          <a:prstGeom prst="rect">
            <a:avLst/>
          </a:prstGeom>
          <a:solidFill>
            <a:srgbClr val="F5A623"/>
          </a:solidFill>
          <a:ln w="2540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CANDIDATE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143000"/>
            <a:ext cx="1737360" cy="594360"/>
          </a:xfrm>
          <a:prstGeom prst="rect">
            <a:avLst/>
          </a:prstGeom>
          <a:solidFill>
            <a:srgbClr val="F5A623"/>
          </a:solidFill>
          <a:ln w="2540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JOB_DESCRIPTION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023360"/>
            <a:ext cx="1828800" cy="685800"/>
          </a:xfrm>
          <a:prstGeom prst="rect">
            <a:avLst/>
          </a:prstGeom>
          <a:solidFill>
            <a:srgbClr val="F5A623"/>
          </a:solidFill>
          <a:ln w="2540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SCREENING_RESULT</a:t>
            </a:r>
          </a:p>
        </p:txBody>
      </p:sp>
      <p:sp>
        <p:nvSpPr>
          <p:cNvPr id="10" name="Rectangle 9"/>
          <p:cNvSpPr/>
          <p:nvPr/>
        </p:nvSpPr>
        <p:spPr>
          <a:xfrm rot="2700000">
            <a:off x="2514600" y="2423160"/>
            <a:ext cx="914400" cy="548640"/>
          </a:xfrm>
          <a:prstGeom prst="rect">
            <a:avLst/>
          </a:prstGeom>
          <a:solidFill>
            <a:srgbClr val="FFD54F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B4B"/>
                </a:solidFill>
                <a:latin typeface="Calibri"/>
              </a:rPr>
              <a:t>submits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5623560" y="2423160"/>
            <a:ext cx="914400" cy="548640"/>
          </a:xfrm>
          <a:prstGeom prst="rect">
            <a:avLst/>
          </a:prstGeom>
          <a:solidFill>
            <a:srgbClr val="FFD54F"/>
          </a:solidFill>
          <a:ln w="190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1B4B"/>
                </a:solidFill>
                <a:latin typeface="Calibri"/>
              </a:rPr>
              <a:t>receives</a:t>
            </a:r>
          </a:p>
        </p:txBody>
      </p:sp>
      <p:sp>
        <p:nvSpPr>
          <p:cNvPr id="14" name="Oval 13"/>
          <p:cNvSpPr/>
          <p:nvPr/>
        </p:nvSpPr>
        <p:spPr>
          <a:xfrm>
            <a:off x="0" y="777240"/>
            <a:ext cx="1005840" cy="292608"/>
          </a:xfrm>
          <a:prstGeom prst="ellipse">
            <a:avLst/>
          </a:prstGeom>
          <a:solidFill>
            <a:srgbClr val="00796B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PK CandidateID</a:t>
            </a:r>
          </a:p>
        </p:txBody>
      </p:sp>
      <p:sp>
        <p:nvSpPr>
          <p:cNvPr id="15" name="Oval 14"/>
          <p:cNvSpPr/>
          <p:nvPr/>
        </p:nvSpPr>
        <p:spPr>
          <a:xfrm>
            <a:off x="0" y="1463040"/>
            <a:ext cx="82296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6" name="Oval 15"/>
          <p:cNvSpPr/>
          <p:nvPr/>
        </p:nvSpPr>
        <p:spPr>
          <a:xfrm>
            <a:off x="0" y="1874519"/>
            <a:ext cx="82296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7" name="Oval 16"/>
          <p:cNvSpPr/>
          <p:nvPr/>
        </p:nvSpPr>
        <p:spPr>
          <a:xfrm>
            <a:off x="0" y="2286000"/>
            <a:ext cx="82296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Phone</a:t>
            </a:r>
          </a:p>
        </p:txBody>
      </p:sp>
      <p:sp>
        <p:nvSpPr>
          <p:cNvPr id="18" name="Oval 17"/>
          <p:cNvSpPr/>
          <p:nvPr/>
        </p:nvSpPr>
        <p:spPr>
          <a:xfrm>
            <a:off x="0" y="2697480"/>
            <a:ext cx="105156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ExtractedSkills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154680"/>
            <a:ext cx="118872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ExperienceYears</a:t>
            </a:r>
          </a:p>
        </p:txBody>
      </p:sp>
      <p:sp>
        <p:nvSpPr>
          <p:cNvPr id="20" name="Oval 19"/>
          <p:cNvSpPr/>
          <p:nvPr/>
        </p:nvSpPr>
        <p:spPr>
          <a:xfrm>
            <a:off x="1920240" y="3063240"/>
            <a:ext cx="9144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Education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2057400" y="2331720"/>
            <a:ext cx="100584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ResumeText</a:t>
            </a:r>
          </a:p>
        </p:txBody>
      </p:sp>
      <p:sp>
        <p:nvSpPr>
          <p:cNvPr id="22" name="Oval 21"/>
          <p:cNvSpPr/>
          <p:nvPr/>
        </p:nvSpPr>
        <p:spPr>
          <a:xfrm>
            <a:off x="2057400" y="2743200"/>
            <a:ext cx="109728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ResumeFilename</a:t>
            </a:r>
          </a:p>
        </p:txBody>
      </p:sp>
      <p:sp>
        <p:nvSpPr>
          <p:cNvPr id="23" name="Oval 22"/>
          <p:cNvSpPr/>
          <p:nvPr/>
        </p:nvSpPr>
        <p:spPr>
          <a:xfrm>
            <a:off x="2057400" y="1691640"/>
            <a:ext cx="9144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CreatedAt</a:t>
            </a:r>
          </a:p>
        </p:txBody>
      </p:sp>
      <p:sp>
        <p:nvSpPr>
          <p:cNvPr id="24" name="Oval 23"/>
          <p:cNvSpPr/>
          <p:nvPr/>
        </p:nvSpPr>
        <p:spPr>
          <a:xfrm>
            <a:off x="8458200" y="777240"/>
            <a:ext cx="777240" cy="256032"/>
          </a:xfrm>
          <a:prstGeom prst="ellipse">
            <a:avLst/>
          </a:prstGeom>
          <a:solidFill>
            <a:srgbClr val="00796B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PK JobID</a:t>
            </a:r>
          </a:p>
        </p:txBody>
      </p:sp>
      <p:sp>
        <p:nvSpPr>
          <p:cNvPr id="25" name="Oval 24"/>
          <p:cNvSpPr/>
          <p:nvPr/>
        </p:nvSpPr>
        <p:spPr>
          <a:xfrm>
            <a:off x="8503920" y="1508760"/>
            <a:ext cx="6858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26" name="Oval 25"/>
          <p:cNvSpPr/>
          <p:nvPr/>
        </p:nvSpPr>
        <p:spPr>
          <a:xfrm>
            <a:off x="8503920" y="1920240"/>
            <a:ext cx="9144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27" name="Oval 26"/>
          <p:cNvSpPr/>
          <p:nvPr/>
        </p:nvSpPr>
        <p:spPr>
          <a:xfrm>
            <a:off x="8503920" y="2331720"/>
            <a:ext cx="96012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2788920"/>
            <a:ext cx="109728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RequiredSkills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0" y="3246120"/>
            <a:ext cx="118872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PreferredSkills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246120"/>
            <a:ext cx="118872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MinExperience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2788920"/>
            <a:ext cx="109728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MinEducation</a:t>
            </a:r>
          </a:p>
        </p:txBody>
      </p:sp>
      <p:sp>
        <p:nvSpPr>
          <p:cNvPr id="32" name="Oval 31"/>
          <p:cNvSpPr/>
          <p:nvPr/>
        </p:nvSpPr>
        <p:spPr>
          <a:xfrm>
            <a:off x="6355080" y="2331720"/>
            <a:ext cx="9144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CreatedAt_J</a:t>
            </a:r>
          </a:p>
        </p:txBody>
      </p:sp>
      <p:sp>
        <p:nvSpPr>
          <p:cNvPr id="33" name="Oval 32"/>
          <p:cNvSpPr/>
          <p:nvPr/>
        </p:nvSpPr>
        <p:spPr>
          <a:xfrm>
            <a:off x="2514600" y="4663440"/>
            <a:ext cx="822960" cy="256032"/>
          </a:xfrm>
          <a:prstGeom prst="ellipse">
            <a:avLst/>
          </a:prstGeom>
          <a:solidFill>
            <a:srgbClr val="00796B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PK ResultID</a:t>
            </a:r>
          </a:p>
        </p:txBody>
      </p:sp>
      <p:sp>
        <p:nvSpPr>
          <p:cNvPr id="34" name="Oval 33"/>
          <p:cNvSpPr/>
          <p:nvPr/>
        </p:nvSpPr>
        <p:spPr>
          <a:xfrm>
            <a:off x="1920240" y="5212080"/>
            <a:ext cx="100584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MatchScore</a:t>
            </a:r>
          </a:p>
        </p:txBody>
      </p:sp>
      <p:sp>
        <p:nvSpPr>
          <p:cNvPr id="35" name="Oval 34"/>
          <p:cNvSpPr/>
          <p:nvPr/>
        </p:nvSpPr>
        <p:spPr>
          <a:xfrm>
            <a:off x="1920240" y="5623560"/>
            <a:ext cx="100584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MatchStatus</a:t>
            </a:r>
          </a:p>
        </p:txBody>
      </p:sp>
      <p:sp>
        <p:nvSpPr>
          <p:cNvPr id="36" name="Oval 35"/>
          <p:cNvSpPr/>
          <p:nvPr/>
        </p:nvSpPr>
        <p:spPr>
          <a:xfrm>
            <a:off x="2880360" y="6035040"/>
            <a:ext cx="109728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ScreeningMode</a:t>
            </a:r>
          </a:p>
        </p:txBody>
      </p:sp>
      <p:sp>
        <p:nvSpPr>
          <p:cNvPr id="37" name="Oval 36"/>
          <p:cNvSpPr/>
          <p:nvPr/>
        </p:nvSpPr>
        <p:spPr>
          <a:xfrm>
            <a:off x="3886200" y="6217920"/>
            <a:ext cx="9144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AISummary</a:t>
            </a:r>
          </a:p>
        </p:txBody>
      </p:sp>
      <p:sp>
        <p:nvSpPr>
          <p:cNvPr id="38" name="Oval 37"/>
          <p:cNvSpPr/>
          <p:nvPr/>
        </p:nvSpPr>
        <p:spPr>
          <a:xfrm>
            <a:off x="4800600" y="6217920"/>
            <a:ext cx="100584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AIStrengths</a:t>
            </a:r>
          </a:p>
        </p:txBody>
      </p:sp>
      <p:sp>
        <p:nvSpPr>
          <p:cNvPr id="39" name="Oval 38"/>
          <p:cNvSpPr/>
          <p:nvPr/>
        </p:nvSpPr>
        <p:spPr>
          <a:xfrm>
            <a:off x="5623560" y="6035040"/>
            <a:ext cx="109728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AIWeaknesses</a:t>
            </a:r>
          </a:p>
        </p:txBody>
      </p:sp>
      <p:sp>
        <p:nvSpPr>
          <p:cNvPr id="40" name="Oval 39"/>
          <p:cNvSpPr/>
          <p:nvPr/>
        </p:nvSpPr>
        <p:spPr>
          <a:xfrm>
            <a:off x="6355080" y="5623560"/>
            <a:ext cx="123444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CareerDNAProfile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0" y="5212080"/>
            <a:ext cx="11430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RecruiterNotes</a:t>
            </a:r>
          </a:p>
        </p:txBody>
      </p:sp>
      <p:sp>
        <p:nvSpPr>
          <p:cNvPr id="42" name="Oval 41"/>
          <p:cNvSpPr/>
          <p:nvPr/>
        </p:nvSpPr>
        <p:spPr>
          <a:xfrm>
            <a:off x="6172200" y="4663440"/>
            <a:ext cx="914400" cy="256032"/>
          </a:xfrm>
          <a:prstGeom prst="ellipse">
            <a:avLst/>
          </a:prstGeom>
          <a:solidFill>
            <a:srgbClr val="4DB6AC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ScreenedAt</a:t>
            </a:r>
          </a:p>
        </p:txBody>
      </p:sp>
      <p:sp>
        <p:nvSpPr>
          <p:cNvPr id="43" name="Oval 42"/>
          <p:cNvSpPr/>
          <p:nvPr/>
        </p:nvSpPr>
        <p:spPr>
          <a:xfrm>
            <a:off x="3429000" y="4526280"/>
            <a:ext cx="1005840" cy="256032"/>
          </a:xfrm>
          <a:prstGeom prst="ellipse">
            <a:avLst/>
          </a:prstGeom>
          <a:solidFill>
            <a:srgbClr val="80DEEA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FK CandidateID</a:t>
            </a:r>
          </a:p>
        </p:txBody>
      </p:sp>
      <p:sp>
        <p:nvSpPr>
          <p:cNvPr id="44" name="Oval 43"/>
          <p:cNvSpPr/>
          <p:nvPr/>
        </p:nvSpPr>
        <p:spPr>
          <a:xfrm>
            <a:off x="4663440" y="4526280"/>
            <a:ext cx="822960" cy="256032"/>
          </a:xfrm>
          <a:prstGeom prst="ellipse">
            <a:avLst/>
          </a:prstGeom>
          <a:solidFill>
            <a:srgbClr val="80DEEA"/>
          </a:solidFill>
          <a:ln w="1016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FK JobID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33375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1..*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33375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1..*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5486400"/>
            <a:ext cx="137160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E1B4B"/>
                </a:solidFill>
                <a:latin typeface="Calibri"/>
              </a:rPr>
              <a:t>■ Orange = Entity</a:t>
            </a:r>
          </a:p>
          <a:p>
            <a:r>
              <a:rPr sz="700">
                <a:solidFill>
                  <a:srgbClr val="1E1B4B"/>
                </a:solidFill>
                <a:latin typeface="Calibri"/>
              </a:rPr>
              <a:t>● Teal = Attribute</a:t>
            </a:r>
          </a:p>
          <a:p>
            <a:r>
              <a:rPr sz="700">
                <a:solidFill>
                  <a:srgbClr val="1E1B4B"/>
                </a:solidFill>
                <a:latin typeface="Calibri"/>
              </a:rPr>
              <a:t>◆ Gold = Relationship</a:t>
            </a:r>
          </a:p>
          <a:p>
            <a:r>
              <a:rPr sz="700">
                <a:solidFill>
                  <a:srgbClr val="1E1B4B"/>
                </a:solidFill>
                <a:latin typeface="Calibri"/>
              </a:rPr>
              <a:t>PK = Dark Teal  FK = Blue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User Interface — 6 Main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6974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122529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22529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225296"/>
            <a:ext cx="118872" cy="11887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188720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00200"/>
            <a:ext cx="24780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4 stat cards, screening table,
DNA archetype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4300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43000"/>
            <a:ext cx="26974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7560" y="122529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0440" y="122529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3320" y="1225296"/>
            <a:ext cx="118872" cy="11887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188720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Job Openings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1600200"/>
            <a:ext cx="24780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Create/manage job requisitions
with required &amp; preferred skills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14300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6974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63640" y="122529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122529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9400" y="1225296"/>
            <a:ext cx="118872" cy="11887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88720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Screen Resumes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1600200"/>
            <a:ext cx="24780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Dual engine (Gemini AI / Offline NLP)
Drag-drop upload, instant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78892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788920"/>
            <a:ext cx="26974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1480" y="287121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28712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2871216"/>
            <a:ext cx="118872" cy="11887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834640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Batch Screening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246120"/>
            <a:ext cx="24780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Up to 20 files, progress bar,
auto-ranked results 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278892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2788920"/>
            <a:ext cx="26974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37560" y="287121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20440" y="28712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03320" y="2871216"/>
            <a:ext cx="118872" cy="11887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2834640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Career DNA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3246120"/>
            <a:ext cx="24780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8-archetype radar charts,
talent pool distribution 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78892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2788920"/>
            <a:ext cx="26974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3640" y="287121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46520" y="28712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29400" y="2871216"/>
            <a:ext cx="118872" cy="11887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2834640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Resume Coach 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3246120"/>
            <a:ext cx="24780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  <a:latin typeface="Calibri"/>
              </a:rPr>
              <a:t>Real-time Gemini chat,
6 quick prompts, multi-turn conversation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Results &amp; System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Screening Score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2704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B4B"/>
                </a:solidFill>
                <a:latin typeface="Calibri"/>
              </a:rPr>
              <a:t>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18488"/>
            <a:ext cx="27432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618488"/>
            <a:ext cx="2359152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52704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86%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208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B4B"/>
                </a:solidFill>
                <a:latin typeface="Calibri"/>
              </a:rPr>
              <a:t>Semantic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12264"/>
            <a:ext cx="27432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112264"/>
            <a:ext cx="57607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2082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1460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B4B"/>
                </a:solidFill>
                <a:latin typeface="Calibri"/>
              </a:rPr>
              <a:t>Experience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27432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2606040"/>
            <a:ext cx="274320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51460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00837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B4B"/>
                </a:solidFill>
                <a:latin typeface="Calibri"/>
              </a:rPr>
              <a:t>Education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99816"/>
            <a:ext cx="27432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3099816"/>
            <a:ext cx="27432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00837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021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B4B"/>
                </a:solidFill>
                <a:latin typeface="Calibri"/>
              </a:rPr>
              <a:t>Final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93592"/>
            <a:ext cx="27432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3593592"/>
            <a:ext cx="19202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350215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087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Career DNA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47141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Data &amp; ML Engineer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4562856"/>
            <a:ext cx="22860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37360" y="4562856"/>
            <a:ext cx="54864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447141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24%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96519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Frontend Craftsman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5056632"/>
            <a:ext cx="22860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37360" y="5056632"/>
            <a:ext cx="52578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9080" y="496519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Calibri"/>
              </a:rPr>
              <a:t>23%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45896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Database Specialist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5550408"/>
            <a:ext cx="22860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37360" y="5550408"/>
            <a:ext cx="3429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545896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  <a:latin typeface="Calibri"/>
              </a:rPr>
              <a:t>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9527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B4B"/>
                </a:solidFill>
                <a:latin typeface="Calibri"/>
              </a:rPr>
              <a:t>Backend Architect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6044184"/>
            <a:ext cx="2286000" cy="292608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37360" y="6044184"/>
            <a:ext cx="32004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9080" y="595274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14%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1143000"/>
            <a:ext cx="4206240" cy="4892040"/>
          </a:xfrm>
          <a:prstGeom prst="rect">
            <a:avLst/>
          </a:prstGeom>
          <a:solidFill>
            <a:srgbClr val="F0F4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🎬  Live Demo Highlights</a:t>
            </a:r>
          </a:p>
          <a:p>
            <a:pPr algn="l">
              <a:spcBef>
                <a:spcPts val="8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✅  Screen a PDF resume against any job in under 5 seconds</a:t>
            </a:r>
          </a:p>
          <a:p>
            <a:pPr algn="l">
              <a:spcBef>
                <a:spcPts val="8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✅  Gemini AI generates strengths, weaknesses &amp; interview questions</a:t>
            </a:r>
          </a:p>
          <a:p>
            <a:pPr algn="l">
              <a:spcBef>
                <a:spcPts val="8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✅  Career DNA radar chart computed automatically</a:t>
            </a:r>
          </a:p>
          <a:p>
            <a:pPr algn="l">
              <a:spcBef>
                <a:spcPts val="8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✅  AI Resume Coach: ask follow-up questions in real-time</a:t>
            </a:r>
          </a:p>
          <a:p>
            <a:pPr algn="l">
              <a:spcBef>
                <a:spcPts val="8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✅  Batch screen 20 resumes → ranked leaderboard instantly</a:t>
            </a:r>
          </a:p>
          <a:p>
            <a:pPr algn="l">
              <a:spcBef>
                <a:spcPts val="8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✅  Compare 2–5 candidates side-by-side with best-value highlighting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65392"/>
            <a:ext cx="8961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4023360" cy="3749039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✅  What We Built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Automated AI resume screening (dual engine)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Career DNA 8-archetype fingerprint profiling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Batch screening for up to 20 resumes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Candidate comparison (2–5 side-by-side)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AI Resume Coach — real-time Gemini AI chat (NOVELTY)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Recruitment analytics with radar charts</a:t>
            </a:r>
          </a:p>
          <a:p>
            <a:pPr algn="l">
              <a:spcBef>
                <a:spcPts val="5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✓  Cloud deployment on Railway with MySQL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43000"/>
            <a:ext cx="4023360" cy="3749039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🚀  Future Enhancements</a:t>
            </a:r>
          </a:p>
          <a:p>
            <a:pPr algn="l">
              <a:spcBef>
                <a:spcPts val="6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→  Real JWT security with Spring Security</a:t>
            </a:r>
          </a:p>
          <a:p>
            <a:pPr algn="l">
              <a:spcBef>
                <a:spcPts val="6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→  Email notification on candidate shortlisting</a:t>
            </a:r>
          </a:p>
          <a:p>
            <a:pPr algn="l">
              <a:spcBef>
                <a:spcPts val="6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→  Pagination for large candidate volumes</a:t>
            </a:r>
          </a:p>
          <a:p>
            <a:pPr algn="l">
              <a:spcBef>
                <a:spcPts val="6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→  Voice-based AI Resume Coach</a:t>
            </a:r>
          </a:p>
          <a:p>
            <a:pPr algn="l">
              <a:spcBef>
                <a:spcPts val="6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→  LinkedIn profile import</a:t>
            </a:r>
          </a:p>
          <a:p>
            <a:pPr algn="l">
              <a:spcBef>
                <a:spcPts val="600"/>
              </a:spcBef>
            </a:pPr>
            <a:r>
              <a:rPr sz="1000">
                <a:solidFill>
                  <a:srgbClr val="1E1B4B"/>
                </a:solidFill>
                <a:latin typeface="Calibri"/>
              </a:rPr>
              <a:t>  →  Mobile app (React Native)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2920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Thank You!   |   FSJ-INTERN-060   |   KIT AI Resume Screener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